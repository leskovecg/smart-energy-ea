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23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SMART ENERGY – ACTIVE LEARNING + HITL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 err="1"/>
              <a:t>Gašper</a:t>
            </a:r>
            <a:r>
              <a:rPr dirty="0"/>
              <a:t> Leskovec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1. What has been done (Sept – Today)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Baseline RF model trained on N-1 security dataset</a:t>
            </a:r>
          </a:p>
          <a:p>
            <a:pPr lvl="1"/>
            <a:r>
              <a:rPr dirty="0"/>
              <a:t>Implemented Online Active Learning loop (entropy, uncertainty, margin, random)</a:t>
            </a:r>
          </a:p>
          <a:p>
            <a:pPr lvl="1"/>
            <a:r>
              <a:rPr dirty="0"/>
              <a:t>Integrated simulator as labeling oracle (cost-aware queries)</a:t>
            </a:r>
          </a:p>
          <a:p>
            <a:pPr lvl="1"/>
            <a:r>
              <a:rPr dirty="0" err="1"/>
              <a:t>MinIO</a:t>
            </a:r>
            <a:r>
              <a:rPr dirty="0"/>
              <a:t> artifact versioning (dataset + model)</a:t>
            </a:r>
          </a:p>
          <a:p>
            <a:pPr lvl="1"/>
            <a:r>
              <a:rPr dirty="0"/>
              <a:t>Developed </a:t>
            </a:r>
            <a:r>
              <a:rPr dirty="0" err="1"/>
              <a:t>FastAPI</a:t>
            </a:r>
            <a:r>
              <a:rPr dirty="0"/>
              <a:t> retraining endpoint (/retrain)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2. Current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Labeling via N-1 simulations is computationally expensive</a:t>
            </a:r>
          </a:p>
          <a:p>
            <a:pPr lvl="1"/>
            <a:r>
              <a:rPr lang="en-US" dirty="0"/>
              <a:t>No fully automated closed-loop retraining yet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Plans Forward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Deploy retraining API on Atena</a:t>
            </a:r>
            <a:r>
              <a:rPr lang="en-US" dirty="0"/>
              <a:t> server</a:t>
            </a:r>
            <a:endParaRPr dirty="0"/>
          </a:p>
          <a:p>
            <a:pPr lvl="1"/>
            <a:r>
              <a:rPr dirty="0"/>
              <a:t>Connect Dashboard → Active Learning → Human → Retrain</a:t>
            </a:r>
          </a:p>
          <a:p>
            <a:pPr lvl="1"/>
            <a:r>
              <a:rPr dirty="0"/>
              <a:t>Reduce simulator calls while improving model performance</a:t>
            </a:r>
          </a:p>
          <a:p>
            <a:pPr lvl="1"/>
            <a:r>
              <a:rPr dirty="0"/>
              <a:t>Enable full Human-in-the-loop production workflow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Human-in-the-Loop (HITL)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Active Learning selects most uncertain grid states</a:t>
            </a:r>
          </a:p>
          <a:p>
            <a:pPr lvl="1"/>
            <a:r>
              <a:t>Human validates critical borderline N-1 scenarios</a:t>
            </a:r>
          </a:p>
          <a:p>
            <a:pPr lvl="1"/>
            <a:r>
              <a:t>Prevents error propagation from noisy labels</a:t>
            </a:r>
          </a:p>
          <a:p>
            <a:pPr lvl="1"/>
            <a:r>
              <a:t>Improves robustness &amp; convergence speed</a:t>
            </a:r>
          </a:p>
          <a:p>
            <a:pPr lvl="1"/>
            <a:r>
              <a:t>Reduces overall labeling cost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4. Results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Uncertainty</a:t>
            </a:r>
            <a:r>
              <a:rPr dirty="0"/>
              <a:t> strategy converges faster than random sampling</a:t>
            </a:r>
          </a:p>
          <a:p>
            <a:pPr lvl="1"/>
            <a:r>
              <a:rPr dirty="0"/>
              <a:t>Higher final accuracy and ROC AUC</a:t>
            </a:r>
          </a:p>
          <a:p>
            <a:pPr lvl="1"/>
            <a:r>
              <a:rPr dirty="0"/>
              <a:t>30–40% fewer simulator calls for same performance</a:t>
            </a:r>
          </a:p>
          <a:p>
            <a:pPr lvl="1"/>
            <a:r>
              <a:rPr dirty="0"/>
              <a:t>Improved cost-efficiency of labeling process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91916"/>
            <a:ext cx="8229600" cy="1143000"/>
          </a:xfrm>
        </p:spPr>
        <p:txBody>
          <a:bodyPr>
            <a:noAutofit/>
          </a:bodyPr>
          <a:lstStyle/>
          <a:p>
            <a:r>
              <a:rPr lang="en-US" sz="3600" dirty="0"/>
              <a:t>Results – Active Learning reaches target performance with fewer labels</a:t>
            </a:r>
            <a:br>
              <a:rPr lang="en-US" sz="3600" dirty="0"/>
            </a:br>
            <a:endParaRPr sz="3600" dirty="0"/>
          </a:p>
        </p:txBody>
      </p:sp>
      <p:sp>
        <p:nvSpPr>
          <p:cNvPr id="5" name="TextBox 4"/>
          <p:cNvSpPr txBox="1"/>
          <p:nvPr/>
        </p:nvSpPr>
        <p:spPr>
          <a:xfrm>
            <a:off x="457200" y="460459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rPr dirty="0"/>
              <a:t>• Entropy and uncertainty strategies reach target performance faster than random sampling</a:t>
            </a:r>
          </a:p>
          <a:p>
            <a:pPr lvl="1">
              <a:defRPr sz="1800"/>
            </a:pPr>
            <a:r>
              <a:rPr dirty="0"/>
              <a:t>• Same or higher ROC AUC achieved with significantly fewer labeled samples</a:t>
            </a:r>
          </a:p>
          <a:p>
            <a:pPr lvl="1">
              <a:defRPr sz="1800"/>
            </a:pPr>
            <a:r>
              <a:rPr dirty="0"/>
              <a:t>• Direct reduction in simulator calls → lower labeling cost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CCBDC18-33C4-1577-9361-4F9A8BEFDE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096" y="1409410"/>
            <a:ext cx="3928173" cy="29649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FB34291-74A1-709D-B5AD-5E1F498838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0424" y="1409410"/>
            <a:ext cx="3672258" cy="286348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System Architecture (Simplified)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088467" cy="4525963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Power Grid Scenario</a:t>
            </a:r>
          </a:p>
          <a:p>
            <a:pPr marL="0" indent="0">
              <a:buNone/>
            </a:pPr>
            <a:r>
              <a:rPr lang="en-US" dirty="0"/>
              <a:t>        ↓</a:t>
            </a:r>
          </a:p>
          <a:p>
            <a:pPr marL="0" indent="0">
              <a:buNone/>
            </a:pPr>
            <a:r>
              <a:rPr lang="en-US" dirty="0"/>
              <a:t>Simulator (N-1)</a:t>
            </a:r>
          </a:p>
          <a:p>
            <a:pPr marL="0" indent="0">
              <a:buNone/>
            </a:pPr>
            <a:r>
              <a:rPr lang="en-US" dirty="0"/>
              <a:t>        ↓</a:t>
            </a:r>
          </a:p>
          <a:p>
            <a:pPr marL="0" indent="0">
              <a:buNone/>
            </a:pPr>
            <a:r>
              <a:rPr lang="en-US" dirty="0" err="1"/>
              <a:t>MinIO</a:t>
            </a:r>
            <a:r>
              <a:rPr lang="en-US" dirty="0"/>
              <a:t> (datasets &amp; models)</a:t>
            </a:r>
          </a:p>
          <a:p>
            <a:pPr marL="0" indent="0">
              <a:buNone/>
            </a:pPr>
            <a:r>
              <a:rPr lang="en-US" dirty="0"/>
              <a:t>        ↓</a:t>
            </a:r>
          </a:p>
          <a:p>
            <a:pPr marL="0" indent="0">
              <a:buNone/>
            </a:pPr>
            <a:r>
              <a:rPr lang="en-US" dirty="0"/>
              <a:t>Active Learning</a:t>
            </a:r>
          </a:p>
          <a:p>
            <a:pPr marL="0" indent="0">
              <a:buNone/>
            </a:pPr>
            <a:r>
              <a:rPr lang="en-US" dirty="0"/>
              <a:t>        ↓</a:t>
            </a:r>
          </a:p>
          <a:p>
            <a:pPr marL="0" indent="0">
              <a:buNone/>
            </a:pPr>
            <a:r>
              <a:rPr lang="en-US" dirty="0"/>
              <a:t>Dashboard (Human validation – HITL)</a:t>
            </a:r>
          </a:p>
          <a:p>
            <a:pPr marL="0" indent="0">
              <a:buNone/>
            </a:pPr>
            <a:r>
              <a:rPr lang="en-US" dirty="0"/>
              <a:t>        ↓</a:t>
            </a:r>
          </a:p>
          <a:p>
            <a:pPr marL="0" indent="0">
              <a:buNone/>
            </a:pPr>
            <a:r>
              <a:rPr lang="en-US" dirty="0"/>
              <a:t>Retraining API (Atena server)</a:t>
            </a:r>
          </a:p>
          <a:p>
            <a:pPr marL="0" indent="0">
              <a:buNone/>
            </a:pPr>
            <a:r>
              <a:rPr lang="en-US" dirty="0"/>
              <a:t>        ↓</a:t>
            </a:r>
          </a:p>
          <a:p>
            <a:pPr marL="0" indent="0">
              <a:buNone/>
            </a:pPr>
            <a:r>
              <a:rPr lang="en-US" dirty="0"/>
              <a:t>Updated Model</a:t>
            </a:r>
          </a:p>
          <a:p>
            <a:pPr marL="0" indent="0">
              <a:buNone/>
            </a:pPr>
            <a:r>
              <a:rPr lang="en-US" dirty="0"/>
              <a:t>        ↓</a:t>
            </a:r>
          </a:p>
          <a:p>
            <a:pPr marL="0" indent="0">
              <a:buNone/>
            </a:pPr>
            <a:r>
              <a:rPr lang="en-US" dirty="0"/>
              <a:t>Security Prediction + Dashboard metrics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275</Words>
  <Application>Microsoft Office PowerPoint</Application>
  <PresentationFormat>On-screen Show (4:3)</PresentationFormat>
  <Paragraphs>47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SMART ENERGY – ACTIVE LEARNING + HITL</vt:lpstr>
      <vt:lpstr>1. What has been done (Sept – Today)</vt:lpstr>
      <vt:lpstr>2. Current Problem</vt:lpstr>
      <vt:lpstr>Plans Forward</vt:lpstr>
      <vt:lpstr>3. Human-in-the-Loop (HITL)</vt:lpstr>
      <vt:lpstr>4. Results Overview</vt:lpstr>
      <vt:lpstr>Results – Active Learning reaches target performance with fewer labels </vt:lpstr>
      <vt:lpstr>System Architecture (Simplified)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LESKOVEC, GAŠPER</cp:lastModifiedBy>
  <cp:revision>6</cp:revision>
  <dcterms:created xsi:type="dcterms:W3CDTF">2013-01-27T09:14:16Z</dcterms:created>
  <dcterms:modified xsi:type="dcterms:W3CDTF">2026-02-11T13:18:37Z</dcterms:modified>
  <cp:category/>
</cp:coreProperties>
</file>