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2573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057400"/>
            <a:ext cx="10698480" cy="685800"/>
          </a:xfrm>
          <a:prstGeom prst="rect">
            <a:avLst/>
          </a:prstGeom>
          <a:noFill/>
          <a:ln/>
        </p:spPr>
        <p:txBody>
          <a:bodyPr wrap="square" lIns="0" tIns="0" rIns="0" bIns="0" rtlCol="0" anchor="ctr"/>
          <a:lstStyle/>
          <a:p>
            <a:pPr marL="0" indent="0" algn="ctr">
              <a:buNone/>
            </a:pPr>
            <a:r>
              <a:rPr lang="en-US" sz="3400" b="1" dirty="0">
                <a:solidFill>
                  <a:srgbClr val="000000"/>
                </a:solidFill>
                <a:latin typeface="Arial" pitchFamily="34" charset="0"/>
                <a:ea typeface="Arial" pitchFamily="34" charset="-122"/>
                <a:cs typeface="Arial" pitchFamily="34" charset="-120"/>
              </a:rPr>
              <a:t>Smart Energy Active Learning + HITL</a:t>
            </a:r>
            <a:endParaRPr lang="en-US" sz="3400" dirty="0"/>
          </a:p>
        </p:txBody>
      </p:sp>
      <p:sp>
        <p:nvSpPr>
          <p:cNvPr id="3" name="Text 1"/>
          <p:cNvSpPr/>
          <p:nvPr/>
        </p:nvSpPr>
        <p:spPr>
          <a:xfrm>
            <a:off x="1280160" y="2880360"/>
            <a:ext cx="9601200" cy="411480"/>
          </a:xfrm>
          <a:prstGeom prst="rect">
            <a:avLst/>
          </a:prstGeom>
          <a:noFill/>
          <a:ln/>
        </p:spPr>
        <p:txBody>
          <a:bodyPr wrap="square" lIns="0" tIns="0" rIns="0" bIns="0"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Current implementation and next steps</a:t>
            </a:r>
            <a:endParaRPr lang="en-US" sz="2000" dirty="0"/>
          </a:p>
        </p:txBody>
      </p:sp>
      <p:sp>
        <p:nvSpPr>
          <p:cNvPr id="4" name="Text 2"/>
          <p:cNvSpPr/>
          <p:nvPr/>
        </p:nvSpPr>
        <p:spPr>
          <a:xfrm>
            <a:off x="1280160" y="3749040"/>
            <a:ext cx="9601200" cy="320040"/>
          </a:xfrm>
          <a:prstGeom prst="rect">
            <a:avLst/>
          </a:prstGeom>
          <a:noFill/>
          <a:ln/>
        </p:spPr>
        <p:txBody>
          <a:bodyPr wrap="square" lIns="0" tIns="0" rIns="0" bIns="0" rtlCol="0" anchor="ctr"/>
          <a:lstStyle/>
          <a:p>
            <a:pPr marL="0" indent="0" algn="ctr">
              <a:buNone/>
            </a:pPr>
            <a:r>
              <a:rPr lang="en-US" sz="1500" dirty="0">
                <a:solidFill>
                  <a:srgbClr val="000000"/>
                </a:solidFill>
                <a:latin typeface="Arial" pitchFamily="34" charset="0"/>
                <a:ea typeface="Arial" pitchFamily="34" charset="-122"/>
                <a:cs typeface="Arial" pitchFamily="34" charset="-120"/>
              </a:rPr>
              <a:t>Gašper Leskovec</a:t>
            </a:r>
            <a:endParaRPr lang="en-US" sz="1500" dirty="0"/>
          </a:p>
        </p:txBody>
      </p:sp>
      <p:sp>
        <p:nvSpPr>
          <p:cNvPr id="5" name="Text 3"/>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900" dirty="0">
                <a:solidFill>
                  <a:srgbClr val="000000"/>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438912"/>
            <a:ext cx="10972800" cy="50292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1. Current division of work</a:t>
            </a:r>
            <a:endParaRPr lang="en-US" sz="2800" dirty="0"/>
          </a:p>
        </p:txBody>
      </p:sp>
      <p:sp>
        <p:nvSpPr>
          <p:cNvPr id="3" name="Shape 1"/>
          <p:cNvSpPr/>
          <p:nvPr/>
        </p:nvSpPr>
        <p:spPr>
          <a:xfrm>
            <a:off x="594360" y="1042416"/>
            <a:ext cx="10972800" cy="0"/>
          </a:xfrm>
          <a:prstGeom prst="line">
            <a:avLst/>
          </a:prstGeom>
          <a:noFill/>
          <a:ln w="12700">
            <a:solidFill>
              <a:srgbClr val="000000"/>
            </a:solidFill>
            <a:prstDash val="solid"/>
          </a:ln>
        </p:spPr>
        <p:txBody>
          <a:bodyPr/>
          <a:lstStyle/>
          <a:p>
            <a:endParaRPr lang="en-GB"/>
          </a:p>
        </p:txBody>
      </p:sp>
      <p:sp>
        <p:nvSpPr>
          <p:cNvPr id="4" name="Text 2"/>
          <p:cNvSpPr/>
          <p:nvPr/>
        </p:nvSpPr>
        <p:spPr>
          <a:xfrm>
            <a:off x="731520" y="1417320"/>
            <a:ext cx="5303520" cy="274320"/>
          </a:xfrm>
          <a:prstGeom prst="rect">
            <a:avLst/>
          </a:prstGeom>
          <a:noFill/>
          <a:ln/>
        </p:spPr>
        <p:txBody>
          <a:bodyPr wrap="square" lIns="0" tIns="0" rIns="0" bIns="0" rtlCol="0" anchor="ctr"/>
          <a:lstStyle/>
          <a:p>
            <a:pPr marL="0" indent="0">
              <a:buNone/>
            </a:pPr>
            <a:r>
              <a:rPr lang="en-US" sz="1600" b="1" dirty="0">
                <a:solidFill>
                  <a:srgbClr val="000000"/>
                </a:solidFill>
                <a:latin typeface="Arial" pitchFamily="34" charset="0"/>
                <a:ea typeface="Arial" pitchFamily="34" charset="-122"/>
                <a:cs typeface="Arial" pitchFamily="34" charset="-120"/>
              </a:rPr>
              <a:t>Greek team / dashboard</a:t>
            </a:r>
            <a:endParaRPr lang="en-US" sz="1600" dirty="0"/>
          </a:p>
        </p:txBody>
      </p:sp>
      <p:sp>
        <p:nvSpPr>
          <p:cNvPr id="5" name="Text 3"/>
          <p:cNvSpPr/>
          <p:nvPr/>
        </p:nvSpPr>
        <p:spPr>
          <a:xfrm>
            <a:off x="777240" y="1828800"/>
            <a:ext cx="5120640" cy="2011680"/>
          </a:xfrm>
          <a:prstGeom prst="rect">
            <a:avLst/>
          </a:prstGeom>
          <a:noFill/>
          <a:ln/>
        </p:spPr>
        <p:txBody>
          <a:bodyPr wrap="square" lIns="254" tIns="254" rIns="254" bIns="254" rtlCol="0" anchor="ctr">
            <a:normAutofit/>
          </a:bodyPr>
          <a:lstStyle/>
          <a:p>
            <a:r>
              <a:rPr lang="en-US" sz="1700" dirty="0">
                <a:solidFill>
                  <a:srgbClr val="000000"/>
                </a:solidFill>
                <a:latin typeface="Arial" pitchFamily="34" charset="0"/>
                <a:ea typeface="Arial" pitchFamily="34" charset="-122"/>
                <a:cs typeface="Arial" pitchFamily="34" charset="-120"/>
              </a:rPr>
              <a:t>Dashboard for operator interaction</a:t>
            </a:r>
            <a:endParaRPr lang="en-US" sz="1700" dirty="0"/>
          </a:p>
          <a:p>
            <a:r>
              <a:rPr lang="en-US" sz="1700" dirty="0">
                <a:solidFill>
                  <a:srgbClr val="000000"/>
                </a:solidFill>
                <a:latin typeface="Arial" pitchFamily="34" charset="0"/>
                <a:ea typeface="Arial" pitchFamily="34" charset="-122"/>
                <a:cs typeface="Arial" pitchFamily="34" charset="-120"/>
              </a:rPr>
              <a:t>Selection of low-confidence / uncertain operating points</a:t>
            </a:r>
            <a:endParaRPr lang="en-US" sz="1700" dirty="0"/>
          </a:p>
          <a:p>
            <a:r>
              <a:rPr lang="en-US" sz="1700" dirty="0">
                <a:solidFill>
                  <a:srgbClr val="000000"/>
                </a:solidFill>
                <a:latin typeface="Arial" pitchFamily="34" charset="0"/>
                <a:ea typeface="Arial" pitchFamily="34" charset="-122"/>
                <a:cs typeface="Arial" pitchFamily="34" charset="-120"/>
              </a:rPr>
              <a:t>Writing selected samples as appended rows to MinIO</a:t>
            </a:r>
            <a:endParaRPr lang="en-US" sz="1700" dirty="0"/>
          </a:p>
          <a:p>
            <a:r>
              <a:rPr lang="en-US" sz="1700" dirty="0">
                <a:solidFill>
                  <a:srgbClr val="000000"/>
                </a:solidFill>
                <a:latin typeface="Arial" pitchFamily="34" charset="0"/>
                <a:ea typeface="Arial" pitchFamily="34" charset="-122"/>
                <a:cs typeface="Arial" pitchFamily="34" charset="-120"/>
              </a:rPr>
              <a:t>Triggering the retraining API from the dashboard</a:t>
            </a:r>
            <a:endParaRPr lang="en-US" sz="1700" dirty="0"/>
          </a:p>
        </p:txBody>
      </p:sp>
      <p:sp>
        <p:nvSpPr>
          <p:cNvPr id="6" name="Shape 4"/>
          <p:cNvSpPr/>
          <p:nvPr/>
        </p:nvSpPr>
        <p:spPr>
          <a:xfrm>
            <a:off x="6080760" y="1353312"/>
            <a:ext cx="0" cy="4160520"/>
          </a:xfrm>
          <a:prstGeom prst="line">
            <a:avLst/>
          </a:prstGeom>
          <a:noFill/>
          <a:ln w="12700">
            <a:solidFill>
              <a:srgbClr val="000000"/>
            </a:solidFill>
            <a:prstDash val="solid"/>
          </a:ln>
        </p:spPr>
        <p:txBody>
          <a:bodyPr/>
          <a:lstStyle/>
          <a:p>
            <a:endParaRPr lang="en-GB"/>
          </a:p>
        </p:txBody>
      </p:sp>
      <p:sp>
        <p:nvSpPr>
          <p:cNvPr id="7" name="Text 5"/>
          <p:cNvSpPr/>
          <p:nvPr/>
        </p:nvSpPr>
        <p:spPr>
          <a:xfrm>
            <a:off x="6446520" y="1417320"/>
            <a:ext cx="5029200" cy="274320"/>
          </a:xfrm>
          <a:prstGeom prst="rect">
            <a:avLst/>
          </a:prstGeom>
          <a:noFill/>
          <a:ln/>
        </p:spPr>
        <p:txBody>
          <a:bodyPr wrap="square" lIns="0" tIns="0" rIns="0" bIns="0" rtlCol="0" anchor="ctr"/>
          <a:lstStyle/>
          <a:p>
            <a:pPr marL="0" indent="0">
              <a:buNone/>
            </a:pPr>
            <a:r>
              <a:rPr lang="en-US" sz="1600" b="1" dirty="0">
                <a:solidFill>
                  <a:srgbClr val="000000"/>
                </a:solidFill>
                <a:latin typeface="Arial" pitchFamily="34" charset="0"/>
                <a:ea typeface="Arial" pitchFamily="34" charset="-122"/>
                <a:cs typeface="Arial" pitchFamily="34" charset="-120"/>
              </a:rPr>
              <a:t>JSI / retraining backend</a:t>
            </a:r>
            <a:endParaRPr lang="en-US" sz="1600" dirty="0"/>
          </a:p>
        </p:txBody>
      </p:sp>
      <p:sp>
        <p:nvSpPr>
          <p:cNvPr id="8" name="Text 6"/>
          <p:cNvSpPr/>
          <p:nvPr/>
        </p:nvSpPr>
        <p:spPr>
          <a:xfrm>
            <a:off x="6492240" y="1828800"/>
            <a:ext cx="5120640" cy="2331720"/>
          </a:xfrm>
          <a:prstGeom prst="rect">
            <a:avLst/>
          </a:prstGeom>
          <a:noFill/>
          <a:ln/>
        </p:spPr>
        <p:txBody>
          <a:bodyPr wrap="square" lIns="254" tIns="254" rIns="254" bIns="254" rtlCol="0" anchor="ctr">
            <a:normAutofit/>
          </a:bodyPr>
          <a:lstStyle/>
          <a:p>
            <a:r>
              <a:rPr lang="en-US" sz="1700" dirty="0">
                <a:solidFill>
                  <a:srgbClr val="000000"/>
                </a:solidFill>
                <a:latin typeface="Arial" pitchFamily="34" charset="0"/>
                <a:ea typeface="Arial" pitchFamily="34" charset="-122"/>
                <a:cs typeface="Arial" pitchFamily="34" charset="-120"/>
              </a:rPr>
              <a:t>FastAPI retraining service</a:t>
            </a:r>
            <a:endParaRPr lang="en-US" sz="1700" dirty="0"/>
          </a:p>
          <a:p>
            <a:r>
              <a:rPr lang="en-US" sz="1700" dirty="0">
                <a:solidFill>
                  <a:srgbClr val="000000"/>
                </a:solidFill>
                <a:latin typeface="Arial" pitchFamily="34" charset="0"/>
                <a:ea typeface="Arial" pitchFamily="34" charset="-122"/>
                <a:cs typeface="Arial" pitchFamily="34" charset="-120"/>
              </a:rPr>
              <a:t>MinIO input/output integration</a:t>
            </a:r>
            <a:endParaRPr lang="en-US" sz="1700" dirty="0"/>
          </a:p>
          <a:p>
            <a:r>
              <a:rPr lang="en-US" sz="1700" dirty="0">
                <a:solidFill>
                  <a:srgbClr val="000000"/>
                </a:solidFill>
                <a:latin typeface="Arial" pitchFamily="34" charset="0"/>
                <a:ea typeface="Arial" pitchFamily="34" charset="-122"/>
                <a:cs typeface="Arial" pitchFamily="34" charset="-120"/>
              </a:rPr>
              <a:t>Local merge of base dataset + appended rows</a:t>
            </a:r>
            <a:endParaRPr lang="en-US" sz="1700" dirty="0"/>
          </a:p>
          <a:p>
            <a:r>
              <a:rPr lang="en-US" sz="1700" dirty="0">
                <a:solidFill>
                  <a:srgbClr val="000000"/>
                </a:solidFill>
                <a:latin typeface="Arial" pitchFamily="34" charset="0"/>
                <a:ea typeface="Arial" pitchFamily="34" charset="-122"/>
                <a:cs typeface="Arial" pitchFamily="34" charset="-120"/>
              </a:rPr>
              <a:t>Random Forest retraining and metrics export</a:t>
            </a:r>
            <a:endParaRPr lang="en-US" sz="1700" dirty="0"/>
          </a:p>
          <a:p>
            <a:r>
              <a:rPr lang="en-US" sz="1700" dirty="0">
                <a:solidFill>
                  <a:srgbClr val="000000"/>
                </a:solidFill>
                <a:latin typeface="Arial" pitchFamily="34" charset="0"/>
                <a:ea typeface="Arial" pitchFamily="34" charset="-122"/>
                <a:cs typeface="Arial" pitchFamily="34" charset="-120"/>
              </a:rPr>
              <a:t>Dockerized deployment on Atena</a:t>
            </a:r>
            <a:endParaRPr lang="en-US" sz="1700" dirty="0"/>
          </a:p>
        </p:txBody>
      </p:sp>
      <p:sp>
        <p:nvSpPr>
          <p:cNvPr id="9" name="Text 7"/>
          <p:cNvSpPr/>
          <p:nvPr/>
        </p:nvSpPr>
        <p:spPr>
          <a:xfrm>
            <a:off x="777240" y="5532120"/>
            <a:ext cx="10698480" cy="822960"/>
          </a:xfrm>
          <a:prstGeom prst="rect">
            <a:avLst/>
          </a:prstGeom>
          <a:noFill/>
          <a:ln/>
        </p:spPr>
        <p:txBody>
          <a:bodyPr wrap="square" lIns="254" tIns="254" rIns="254" bIns="254" rtlCol="0" anchor="t">
            <a:normAutofit/>
          </a:bodyPr>
          <a:lstStyle/>
          <a:p>
            <a:pPr marL="0" indent="0">
              <a:buNone/>
            </a:pPr>
            <a:r>
              <a:rPr lang="en-US" sz="1600" dirty="0">
                <a:solidFill>
                  <a:srgbClr val="000000"/>
                </a:solidFill>
                <a:latin typeface="Arial" pitchFamily="34" charset="0"/>
                <a:ea typeface="Arial" pitchFamily="34" charset="-122"/>
                <a:cs typeface="Arial" pitchFamily="34" charset="-120"/>
              </a:rPr>
              <a:t>Key point: the current deployed API retrains on samples prepared by the dashboard; sample selection is the part we now want to formalize further.</a:t>
            </a:r>
            <a:endParaRPr lang="en-US" sz="1600" dirty="0"/>
          </a:p>
        </p:txBody>
      </p:sp>
      <p:sp>
        <p:nvSpPr>
          <p:cNvPr id="10" name="Text 8"/>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900" dirty="0">
                <a:solidFill>
                  <a:srgbClr val="000000"/>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438912"/>
            <a:ext cx="10972800" cy="50292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2. What is already implemented</a:t>
            </a:r>
            <a:endParaRPr lang="en-US" sz="2800" dirty="0"/>
          </a:p>
        </p:txBody>
      </p:sp>
      <p:sp>
        <p:nvSpPr>
          <p:cNvPr id="3" name="Shape 1"/>
          <p:cNvSpPr/>
          <p:nvPr/>
        </p:nvSpPr>
        <p:spPr>
          <a:xfrm>
            <a:off x="594360" y="1042416"/>
            <a:ext cx="10972800" cy="0"/>
          </a:xfrm>
          <a:prstGeom prst="line">
            <a:avLst/>
          </a:prstGeom>
          <a:noFill/>
          <a:ln w="12700">
            <a:solidFill>
              <a:srgbClr val="000000"/>
            </a:solidFill>
            <a:prstDash val="solid"/>
          </a:ln>
        </p:spPr>
        <p:txBody>
          <a:bodyPr/>
          <a:lstStyle/>
          <a:p>
            <a:endParaRPr lang="en-GB"/>
          </a:p>
        </p:txBody>
      </p:sp>
      <p:sp>
        <p:nvSpPr>
          <p:cNvPr id="4" name="Text 2"/>
          <p:cNvSpPr/>
          <p:nvPr/>
        </p:nvSpPr>
        <p:spPr>
          <a:xfrm>
            <a:off x="822960" y="1417320"/>
            <a:ext cx="10607040" cy="2971800"/>
          </a:xfrm>
          <a:prstGeom prst="rect">
            <a:avLst/>
          </a:prstGeom>
          <a:noFill/>
          <a:ln/>
        </p:spPr>
        <p:txBody>
          <a:bodyPr wrap="square" lIns="254" tIns="254" rIns="254" bIns="254" rtlCol="0" anchor="ctr">
            <a:normAutofit/>
          </a:bodyPr>
          <a:lstStyle/>
          <a:p>
            <a:r>
              <a:rPr lang="en-US" sz="1700" dirty="0">
                <a:solidFill>
                  <a:srgbClr val="000000"/>
                </a:solidFill>
                <a:latin typeface="Arial" pitchFamily="34" charset="0"/>
                <a:ea typeface="Arial" pitchFamily="34" charset="-122"/>
                <a:cs typeface="Arial" pitchFamily="34" charset="-120"/>
              </a:rPr>
              <a:t>Baseline N-1 security dataset and Random Forest model uploaded to MinIO</a:t>
            </a:r>
            <a:endParaRPr lang="en-US" sz="1700" dirty="0"/>
          </a:p>
          <a:p>
            <a:r>
              <a:rPr lang="en-US" sz="1700" dirty="0">
                <a:solidFill>
                  <a:srgbClr val="000000"/>
                </a:solidFill>
                <a:latin typeface="Arial" pitchFamily="34" charset="0"/>
                <a:ea typeface="Arial" pitchFamily="34" charset="-122"/>
                <a:cs typeface="Arial" pitchFamily="34" charset="-120"/>
              </a:rPr>
              <a:t>Experimental AL loop implemented: entropy, uncertainty, margin and random sampling</a:t>
            </a:r>
            <a:endParaRPr lang="en-US" sz="1700" dirty="0"/>
          </a:p>
          <a:p>
            <a:r>
              <a:rPr lang="en-US" sz="1700" dirty="0">
                <a:solidFill>
                  <a:srgbClr val="000000"/>
                </a:solidFill>
                <a:latin typeface="Arial" pitchFamily="34" charset="0"/>
                <a:ea typeface="Arial" pitchFamily="34" charset="-122"/>
                <a:cs typeface="Arial" pitchFamily="34" charset="-120"/>
              </a:rPr>
              <a:t>FastAPI retraining API implemented with GET /health and POST /retrain</a:t>
            </a:r>
            <a:endParaRPr lang="en-US" sz="1700" dirty="0"/>
          </a:p>
          <a:p>
            <a:r>
              <a:rPr lang="en-US" sz="1700" dirty="0">
                <a:solidFill>
                  <a:srgbClr val="000000"/>
                </a:solidFill>
                <a:latin typeface="Arial" pitchFamily="34" charset="0"/>
                <a:ea typeface="Arial" pitchFamily="34" charset="-122"/>
                <a:cs typeface="Arial" pitchFamily="34" charset="-120"/>
              </a:rPr>
              <a:t>API dockerized and deployed on Atena: http://atena.ijs.si:5004</a:t>
            </a:r>
            <a:endParaRPr lang="en-US" sz="1700" dirty="0"/>
          </a:p>
          <a:p>
            <a:r>
              <a:rPr lang="en-US" sz="1700" dirty="0">
                <a:solidFill>
                  <a:srgbClr val="000000"/>
                </a:solidFill>
                <a:latin typeface="Arial" pitchFamily="34" charset="0"/>
                <a:ea typeface="Arial" pitchFamily="34" charset="-122"/>
                <a:cs typeface="Arial" pitchFamily="34" charset="-120"/>
              </a:rPr>
              <a:t>Dashboard integration confirmed by UBITECH</a:t>
            </a:r>
            <a:endParaRPr lang="en-US" sz="1700" dirty="0"/>
          </a:p>
          <a:p>
            <a:r>
              <a:rPr lang="en-US" sz="1700" dirty="0">
                <a:solidFill>
                  <a:srgbClr val="000000"/>
                </a:solidFill>
                <a:latin typeface="Arial" pitchFamily="34" charset="0"/>
                <a:ea typeface="Arial" pitchFamily="34" charset="-122"/>
                <a:cs typeface="Arial" pitchFamily="34" charset="-120"/>
              </a:rPr>
              <a:t>Timeout issue solved by keeping the base dataset locally and downloading only appended rows from MinIO</a:t>
            </a:r>
            <a:endParaRPr lang="en-US" sz="1700" dirty="0"/>
          </a:p>
        </p:txBody>
      </p:sp>
      <p:sp>
        <p:nvSpPr>
          <p:cNvPr id="5" name="Text 3"/>
          <p:cNvSpPr/>
          <p:nvPr/>
        </p:nvSpPr>
        <p:spPr>
          <a:xfrm>
            <a:off x="822960" y="4617720"/>
            <a:ext cx="5029200" cy="274320"/>
          </a:xfrm>
          <a:prstGeom prst="rect">
            <a:avLst/>
          </a:prstGeom>
          <a:noFill/>
          <a:ln/>
        </p:spPr>
        <p:txBody>
          <a:bodyPr wrap="square" lIns="0" tIns="0" rIns="0" bIns="0" rtlCol="0" anchor="ctr"/>
          <a:lstStyle/>
          <a:p>
            <a:pPr marL="0" indent="0">
              <a:buNone/>
            </a:pPr>
            <a:r>
              <a:rPr lang="en-US" sz="1600" b="1" dirty="0">
                <a:solidFill>
                  <a:srgbClr val="000000"/>
                </a:solidFill>
                <a:latin typeface="Arial" pitchFamily="34" charset="0"/>
                <a:ea typeface="Arial" pitchFamily="34" charset="-122"/>
                <a:cs typeface="Arial" pitchFamily="34" charset="-120"/>
              </a:rPr>
              <a:t>Current retraining flow</a:t>
            </a:r>
            <a:endParaRPr lang="en-US" sz="1600" dirty="0"/>
          </a:p>
        </p:txBody>
      </p:sp>
      <p:sp>
        <p:nvSpPr>
          <p:cNvPr id="6" name="Text 4"/>
          <p:cNvSpPr/>
          <p:nvPr/>
        </p:nvSpPr>
        <p:spPr>
          <a:xfrm>
            <a:off x="822960" y="4983480"/>
            <a:ext cx="10607040" cy="777240"/>
          </a:xfrm>
          <a:prstGeom prst="rect">
            <a:avLst/>
          </a:prstGeom>
          <a:noFill/>
          <a:ln/>
        </p:spPr>
        <p:txBody>
          <a:bodyPr wrap="square" lIns="254" tIns="254" rIns="254" bIns="254" rtlCol="0" anchor="t">
            <a:normAutofit/>
          </a:bodyPr>
          <a:lstStyle/>
          <a:p>
            <a:pPr marL="0" indent="0">
              <a:buNone/>
            </a:pPr>
            <a:r>
              <a:rPr lang="en-US" sz="1700" dirty="0">
                <a:solidFill>
                  <a:srgbClr val="000000"/>
                </a:solidFill>
                <a:latin typeface="Arial" pitchFamily="34" charset="0"/>
                <a:ea typeface="Arial" pitchFamily="34" charset="-122"/>
                <a:cs typeface="Arial" pitchFamily="34" charset="-120"/>
              </a:rPr>
              <a:t>Dashboard → MinIO appended rows → Atena /retrain → merge with local base dataset → retrain RF → upload model.joblib + metrics.json to MinIO</a:t>
            </a:r>
            <a:endParaRPr lang="en-US" sz="1700" dirty="0"/>
          </a:p>
        </p:txBody>
      </p:sp>
      <p:sp>
        <p:nvSpPr>
          <p:cNvPr id="7" name="Text 5"/>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900" dirty="0">
                <a:solidFill>
                  <a:srgbClr val="00000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438912"/>
            <a:ext cx="10972800" cy="50292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3. Current API and deployment</a:t>
            </a:r>
            <a:endParaRPr lang="en-US" sz="2800" dirty="0"/>
          </a:p>
        </p:txBody>
      </p:sp>
      <p:sp>
        <p:nvSpPr>
          <p:cNvPr id="3" name="Shape 1"/>
          <p:cNvSpPr/>
          <p:nvPr/>
        </p:nvSpPr>
        <p:spPr>
          <a:xfrm>
            <a:off x="594360" y="1042416"/>
            <a:ext cx="10972800" cy="0"/>
          </a:xfrm>
          <a:prstGeom prst="line">
            <a:avLst/>
          </a:prstGeom>
          <a:noFill/>
          <a:ln w="12700">
            <a:solidFill>
              <a:srgbClr val="000000"/>
            </a:solidFill>
            <a:prstDash val="solid"/>
          </a:ln>
        </p:spPr>
        <p:txBody>
          <a:bodyPr/>
          <a:lstStyle/>
          <a:p>
            <a:endParaRPr lang="en-GB"/>
          </a:p>
        </p:txBody>
      </p:sp>
      <p:sp>
        <p:nvSpPr>
          <p:cNvPr id="4" name="Text 2"/>
          <p:cNvSpPr/>
          <p:nvPr/>
        </p:nvSpPr>
        <p:spPr>
          <a:xfrm>
            <a:off x="777240" y="1417320"/>
            <a:ext cx="5029200" cy="274320"/>
          </a:xfrm>
          <a:prstGeom prst="rect">
            <a:avLst/>
          </a:prstGeom>
          <a:noFill/>
          <a:ln/>
        </p:spPr>
        <p:txBody>
          <a:bodyPr wrap="square" lIns="0" tIns="0" rIns="0" bIns="0" rtlCol="0" anchor="ctr"/>
          <a:lstStyle/>
          <a:p>
            <a:pPr marL="0" indent="0">
              <a:buNone/>
            </a:pPr>
            <a:r>
              <a:rPr lang="en-US" sz="1600" b="1" dirty="0">
                <a:solidFill>
                  <a:srgbClr val="000000"/>
                </a:solidFill>
                <a:latin typeface="Arial" pitchFamily="34" charset="0"/>
                <a:ea typeface="Arial" pitchFamily="34" charset="-122"/>
                <a:cs typeface="Arial" pitchFamily="34" charset="-120"/>
              </a:rPr>
              <a:t>Atena deployment</a:t>
            </a:r>
            <a:endParaRPr lang="en-US" sz="1600" dirty="0"/>
          </a:p>
        </p:txBody>
      </p:sp>
      <p:sp>
        <p:nvSpPr>
          <p:cNvPr id="5" name="Text 3"/>
          <p:cNvSpPr/>
          <p:nvPr/>
        </p:nvSpPr>
        <p:spPr>
          <a:xfrm>
            <a:off x="822960" y="1783080"/>
            <a:ext cx="5166360" cy="2423160"/>
          </a:xfrm>
          <a:prstGeom prst="rect">
            <a:avLst/>
          </a:prstGeom>
          <a:noFill/>
          <a:ln/>
        </p:spPr>
        <p:txBody>
          <a:bodyPr wrap="square" lIns="254" tIns="254" rIns="254" bIns="254" rtlCol="0" anchor="ctr">
            <a:normAutofit/>
          </a:bodyPr>
          <a:lstStyle/>
          <a:p>
            <a:r>
              <a:rPr lang="en-US" sz="1600" dirty="0">
                <a:solidFill>
                  <a:srgbClr val="000000"/>
                </a:solidFill>
                <a:latin typeface="Arial" pitchFamily="34" charset="0"/>
                <a:ea typeface="Arial" pitchFamily="34" charset="-122"/>
                <a:cs typeface="Arial" pitchFamily="34" charset="-120"/>
              </a:rPr>
              <a:t>Docker image: leskovecg/smart-energy-api:1.2.0</a:t>
            </a:r>
            <a:endParaRPr lang="en-US" sz="1600" dirty="0"/>
          </a:p>
          <a:p>
            <a:r>
              <a:rPr lang="en-US" sz="1600" dirty="0">
                <a:solidFill>
                  <a:srgbClr val="000000"/>
                </a:solidFill>
                <a:latin typeface="Arial" pitchFamily="34" charset="0"/>
                <a:ea typeface="Arial" pitchFamily="34" charset="-122"/>
                <a:cs typeface="Arial" pitchFamily="34" charset="-120"/>
              </a:rPr>
              <a:t>Container name: retraining-api</a:t>
            </a:r>
            <a:endParaRPr lang="en-US" sz="1600" dirty="0"/>
          </a:p>
          <a:p>
            <a:r>
              <a:rPr lang="en-US" sz="1600" dirty="0">
                <a:solidFill>
                  <a:srgbClr val="000000"/>
                </a:solidFill>
                <a:latin typeface="Arial" pitchFamily="34" charset="0"/>
                <a:ea typeface="Arial" pitchFamily="34" charset="-122"/>
                <a:cs typeface="Arial" pitchFamily="34" charset="-120"/>
              </a:rPr>
              <a:t>Host port 5004 mapped to container port 8000</a:t>
            </a:r>
            <a:endParaRPr lang="en-US" sz="1600" dirty="0"/>
          </a:p>
          <a:p>
            <a:r>
              <a:rPr lang="en-US" sz="1600" dirty="0">
                <a:solidFill>
                  <a:srgbClr val="000000"/>
                </a:solidFill>
                <a:latin typeface="Arial" pitchFamily="34" charset="0"/>
                <a:ea typeface="Arial" pitchFamily="34" charset="-122"/>
                <a:cs typeface="Arial" pitchFamily="34" charset="-120"/>
              </a:rPr>
              <a:t>Environment variables loaded from .env</a:t>
            </a:r>
            <a:endParaRPr lang="en-US" sz="1600" dirty="0"/>
          </a:p>
          <a:p>
            <a:r>
              <a:rPr lang="en-US" sz="1600" dirty="0">
                <a:solidFill>
                  <a:srgbClr val="000000"/>
                </a:solidFill>
                <a:latin typeface="Arial" pitchFamily="34" charset="0"/>
                <a:ea typeface="Arial" pitchFamily="34" charset="-122"/>
                <a:cs typeface="Arial" pitchFamily="34" charset="-120"/>
              </a:rPr>
              <a:t>Local data folder mounted to /app/data</a:t>
            </a:r>
            <a:endParaRPr lang="en-US" sz="1600" dirty="0"/>
          </a:p>
        </p:txBody>
      </p:sp>
      <p:sp>
        <p:nvSpPr>
          <p:cNvPr id="6" name="Shape 4"/>
          <p:cNvSpPr/>
          <p:nvPr/>
        </p:nvSpPr>
        <p:spPr>
          <a:xfrm>
            <a:off x="6080760" y="1353312"/>
            <a:ext cx="0" cy="4343400"/>
          </a:xfrm>
          <a:prstGeom prst="line">
            <a:avLst/>
          </a:prstGeom>
          <a:noFill/>
          <a:ln w="12700">
            <a:solidFill>
              <a:srgbClr val="000000"/>
            </a:solidFill>
            <a:prstDash val="solid"/>
          </a:ln>
        </p:spPr>
        <p:txBody>
          <a:bodyPr/>
          <a:lstStyle/>
          <a:p>
            <a:endParaRPr lang="en-GB"/>
          </a:p>
        </p:txBody>
      </p:sp>
      <p:sp>
        <p:nvSpPr>
          <p:cNvPr id="7" name="Text 5"/>
          <p:cNvSpPr/>
          <p:nvPr/>
        </p:nvSpPr>
        <p:spPr>
          <a:xfrm>
            <a:off x="6446520" y="1417320"/>
            <a:ext cx="5029200" cy="274320"/>
          </a:xfrm>
          <a:prstGeom prst="rect">
            <a:avLst/>
          </a:prstGeom>
          <a:noFill/>
          <a:ln/>
        </p:spPr>
        <p:txBody>
          <a:bodyPr wrap="square" lIns="0" tIns="0" rIns="0" bIns="0" rtlCol="0" anchor="ctr"/>
          <a:lstStyle/>
          <a:p>
            <a:pPr marL="0" indent="0">
              <a:buNone/>
            </a:pPr>
            <a:r>
              <a:rPr lang="en-US" sz="1600" b="1" dirty="0">
                <a:solidFill>
                  <a:srgbClr val="000000"/>
                </a:solidFill>
                <a:latin typeface="Arial" pitchFamily="34" charset="0"/>
                <a:ea typeface="Arial" pitchFamily="34" charset="-122"/>
                <a:cs typeface="Arial" pitchFamily="34" charset="-120"/>
              </a:rPr>
              <a:t>Retrain endpoint</a:t>
            </a:r>
            <a:endParaRPr lang="en-US" sz="1600" dirty="0"/>
          </a:p>
        </p:txBody>
      </p:sp>
      <p:sp>
        <p:nvSpPr>
          <p:cNvPr id="8" name="Text 6"/>
          <p:cNvSpPr/>
          <p:nvPr/>
        </p:nvSpPr>
        <p:spPr>
          <a:xfrm>
            <a:off x="6492240" y="1783080"/>
            <a:ext cx="5166360" cy="2423160"/>
          </a:xfrm>
          <a:prstGeom prst="rect">
            <a:avLst/>
          </a:prstGeom>
          <a:noFill/>
          <a:ln/>
        </p:spPr>
        <p:txBody>
          <a:bodyPr wrap="square" lIns="254" tIns="254" rIns="254" bIns="254" rtlCol="0" anchor="ctr">
            <a:normAutofit/>
          </a:bodyPr>
          <a:lstStyle/>
          <a:p>
            <a:r>
              <a:rPr lang="en-US" sz="1600" dirty="0">
                <a:solidFill>
                  <a:srgbClr val="000000"/>
                </a:solidFill>
                <a:latin typeface="Arial" pitchFamily="34" charset="0"/>
                <a:ea typeface="Arial" pitchFamily="34" charset="-122"/>
                <a:cs typeface="Arial" pitchFamily="34" charset="-120"/>
              </a:rPr>
              <a:t>Input: MinIO key for latest appended rows</a:t>
            </a:r>
            <a:endParaRPr lang="en-US" sz="1600" dirty="0"/>
          </a:p>
          <a:p>
            <a:r>
              <a:rPr lang="en-US" sz="1600" dirty="0">
                <a:solidFill>
                  <a:srgbClr val="000000"/>
                </a:solidFill>
                <a:latin typeface="Arial" pitchFamily="34" charset="0"/>
                <a:ea typeface="Arial" pitchFamily="34" charset="-122"/>
                <a:cs typeface="Arial" pitchFamily="34" charset="-120"/>
              </a:rPr>
              <a:t>Base dataset is already available locally on Atena</a:t>
            </a:r>
            <a:endParaRPr lang="en-US" sz="1600" dirty="0"/>
          </a:p>
          <a:p>
            <a:r>
              <a:rPr lang="en-US" sz="1600" dirty="0">
                <a:solidFill>
                  <a:srgbClr val="000000"/>
                </a:solidFill>
                <a:latin typeface="Arial" pitchFamily="34" charset="0"/>
                <a:ea typeface="Arial" pitchFamily="34" charset="-122"/>
                <a:cs typeface="Arial" pitchFamily="34" charset="-120"/>
              </a:rPr>
              <a:t>Output: updated model path, metrics path and metrics values</a:t>
            </a:r>
            <a:endParaRPr lang="en-US" sz="1600" dirty="0"/>
          </a:p>
          <a:p>
            <a:r>
              <a:rPr lang="en-US" sz="1600" dirty="0">
                <a:solidFill>
                  <a:srgbClr val="000000"/>
                </a:solidFill>
                <a:latin typeface="Arial" pitchFamily="34" charset="0"/>
                <a:ea typeface="Arial" pitchFamily="34" charset="-122"/>
                <a:cs typeface="Arial" pitchFamily="34" charset="-120"/>
              </a:rPr>
              <a:t>Authentication via X-API-Key</a:t>
            </a:r>
            <a:endParaRPr lang="en-US" sz="1600" dirty="0"/>
          </a:p>
          <a:p>
            <a:r>
              <a:rPr lang="en-US" sz="1600" dirty="0">
                <a:solidFill>
                  <a:srgbClr val="000000"/>
                </a:solidFill>
                <a:latin typeface="Arial" pitchFamily="34" charset="0"/>
                <a:ea typeface="Arial" pitchFamily="34" charset="-122"/>
                <a:cs typeface="Arial" pitchFamily="34" charset="-120"/>
              </a:rPr>
              <a:t>Used by the dashboard as the retraining mechanism</a:t>
            </a:r>
            <a:endParaRPr lang="en-US" sz="1600" dirty="0"/>
          </a:p>
        </p:txBody>
      </p:sp>
      <p:sp>
        <p:nvSpPr>
          <p:cNvPr id="9" name="Text 7"/>
          <p:cNvSpPr/>
          <p:nvPr/>
        </p:nvSpPr>
        <p:spPr>
          <a:xfrm>
            <a:off x="808295" y="5409450"/>
            <a:ext cx="7315200" cy="274320"/>
          </a:xfrm>
          <a:prstGeom prst="rect">
            <a:avLst/>
          </a:prstGeom>
          <a:noFill/>
          <a:ln/>
        </p:spPr>
        <p:txBody>
          <a:bodyPr wrap="square" lIns="0" tIns="0" rIns="0" bIns="0" rtlCol="0" anchor="ctr"/>
          <a:lstStyle/>
          <a:p>
            <a:pPr marL="0" indent="0">
              <a:buNone/>
            </a:pPr>
            <a:r>
              <a:rPr lang="en-US" sz="1600" b="1" dirty="0">
                <a:solidFill>
                  <a:srgbClr val="000000"/>
                </a:solidFill>
                <a:latin typeface="Arial" pitchFamily="34" charset="0"/>
                <a:ea typeface="Arial" pitchFamily="34" charset="-122"/>
                <a:cs typeface="Arial" pitchFamily="34" charset="-120"/>
              </a:rPr>
              <a:t>Important implementation detail</a:t>
            </a:r>
            <a:endParaRPr lang="en-US" sz="1600" dirty="0"/>
          </a:p>
        </p:txBody>
      </p:sp>
      <p:sp>
        <p:nvSpPr>
          <p:cNvPr id="10" name="Text 8"/>
          <p:cNvSpPr/>
          <p:nvPr/>
        </p:nvSpPr>
        <p:spPr>
          <a:xfrm>
            <a:off x="822960" y="5751575"/>
            <a:ext cx="10607040" cy="640080"/>
          </a:xfrm>
          <a:prstGeom prst="rect">
            <a:avLst/>
          </a:prstGeom>
          <a:noFill/>
          <a:ln/>
        </p:spPr>
        <p:txBody>
          <a:bodyPr wrap="square" lIns="254" tIns="254" rIns="254" bIns="254" rtlCol="0" anchor="t">
            <a:normAutofit/>
          </a:bodyPr>
          <a:lstStyle/>
          <a:p>
            <a:pPr marL="0" indent="0">
              <a:buNone/>
            </a:pPr>
            <a:r>
              <a:rPr lang="en-US" sz="1600" dirty="0">
                <a:solidFill>
                  <a:srgbClr val="000000"/>
                </a:solidFill>
                <a:latin typeface="Arial" pitchFamily="34" charset="0"/>
                <a:ea typeface="Arial" pitchFamily="34" charset="-122"/>
                <a:cs typeface="Arial" pitchFamily="34" charset="-120"/>
              </a:rPr>
              <a:t>The API is currently strategy-agnostic: it retrains on the dataset prepared by the dashboard. It does not yet expose a deployed endpoint that ranks candidate samples by AL strategy.</a:t>
            </a:r>
            <a:endParaRPr lang="en-US" sz="1600" dirty="0"/>
          </a:p>
        </p:txBody>
      </p:sp>
      <p:sp>
        <p:nvSpPr>
          <p:cNvPr id="11" name="Text 9"/>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900" dirty="0">
                <a:solidFill>
                  <a:srgbClr val="00000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438912"/>
            <a:ext cx="10972800" cy="50292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4. Existing AL evidence</a:t>
            </a:r>
            <a:endParaRPr lang="en-US" sz="2800" dirty="0"/>
          </a:p>
        </p:txBody>
      </p:sp>
      <p:sp>
        <p:nvSpPr>
          <p:cNvPr id="3" name="Shape 1"/>
          <p:cNvSpPr/>
          <p:nvPr/>
        </p:nvSpPr>
        <p:spPr>
          <a:xfrm>
            <a:off x="594360" y="1042416"/>
            <a:ext cx="10972800" cy="0"/>
          </a:xfrm>
          <a:prstGeom prst="line">
            <a:avLst/>
          </a:prstGeom>
          <a:noFill/>
          <a:ln w="12700">
            <a:solidFill>
              <a:srgbClr val="000000"/>
            </a:solidFill>
            <a:prstDash val="solid"/>
          </a:ln>
        </p:spPr>
        <p:txBody>
          <a:bodyPr/>
          <a:lstStyle/>
          <a:p>
            <a:endParaRPr lang="en-GB"/>
          </a:p>
        </p:txBody>
      </p:sp>
      <p:sp>
        <p:nvSpPr>
          <p:cNvPr id="4" name="Text 2"/>
          <p:cNvSpPr/>
          <p:nvPr/>
        </p:nvSpPr>
        <p:spPr>
          <a:xfrm>
            <a:off x="822960" y="1417320"/>
            <a:ext cx="10698480" cy="2834640"/>
          </a:xfrm>
          <a:prstGeom prst="rect">
            <a:avLst/>
          </a:prstGeom>
          <a:noFill/>
          <a:ln/>
        </p:spPr>
        <p:txBody>
          <a:bodyPr wrap="square" lIns="254" tIns="254" rIns="254" bIns="254" rtlCol="0" anchor="ctr">
            <a:normAutofit/>
          </a:bodyPr>
          <a:lstStyle/>
          <a:p>
            <a:r>
              <a:rPr lang="en-US" sz="1700" dirty="0">
                <a:solidFill>
                  <a:srgbClr val="000000"/>
                </a:solidFill>
                <a:latin typeface="Arial" pitchFamily="34" charset="0"/>
                <a:ea typeface="Arial" pitchFamily="34" charset="-122"/>
                <a:cs typeface="Arial" pitchFamily="34" charset="-120"/>
              </a:rPr>
              <a:t>Previous experiments show that uncertainty-based AL is useful for N-1 security assessment</a:t>
            </a:r>
            <a:endParaRPr lang="en-US" sz="1700" dirty="0"/>
          </a:p>
          <a:p>
            <a:r>
              <a:rPr lang="en-US" sz="1700" dirty="0">
                <a:solidFill>
                  <a:srgbClr val="000000"/>
                </a:solidFill>
                <a:latin typeface="Arial" pitchFamily="34" charset="0"/>
                <a:ea typeface="Arial" pitchFamily="34" charset="-122"/>
                <a:cs typeface="Arial" pitchFamily="34" charset="-120"/>
              </a:rPr>
              <a:t>Compared strategies: entropy, margin, uncertainty and random baseline</a:t>
            </a:r>
            <a:endParaRPr lang="en-US" sz="1700" dirty="0"/>
          </a:p>
          <a:p>
            <a:r>
              <a:rPr lang="en-US" sz="1700" dirty="0">
                <a:solidFill>
                  <a:srgbClr val="000000"/>
                </a:solidFill>
                <a:latin typeface="Arial" pitchFamily="34" charset="0"/>
                <a:ea typeface="Arial" pitchFamily="34" charset="-122"/>
                <a:cs typeface="Arial" pitchFamily="34" charset="-120"/>
              </a:rPr>
              <a:t>At ACC ≥ 0.92, AL reached target performance with about 500 labels vs. 1,040 for random</a:t>
            </a:r>
            <a:endParaRPr lang="en-US" sz="1700" dirty="0"/>
          </a:p>
          <a:p>
            <a:r>
              <a:rPr lang="en-US" sz="1700" dirty="0">
                <a:solidFill>
                  <a:srgbClr val="000000"/>
                </a:solidFill>
                <a:latin typeface="Arial" pitchFamily="34" charset="0"/>
                <a:ea typeface="Arial" pitchFamily="34" charset="-122"/>
                <a:cs typeface="Arial" pitchFamily="34" charset="-120"/>
              </a:rPr>
              <a:t>At AUC ≥ 0.98, AL reached target performance with about 580 labels vs. 960 for random</a:t>
            </a:r>
            <a:endParaRPr lang="en-US" sz="1700" dirty="0"/>
          </a:p>
          <a:p>
            <a:r>
              <a:rPr lang="en-US" sz="1700" dirty="0">
                <a:solidFill>
                  <a:srgbClr val="000000"/>
                </a:solidFill>
                <a:latin typeface="Arial" pitchFamily="34" charset="0"/>
                <a:ea typeface="Arial" pitchFamily="34" charset="-122"/>
                <a:cs typeface="Arial" pitchFamily="34" charset="-120"/>
              </a:rPr>
              <a:t>This supports the next step: operationalizing AL strategies inside the HITL dashboard workflow</a:t>
            </a:r>
            <a:endParaRPr lang="en-US" sz="1700" dirty="0"/>
          </a:p>
        </p:txBody>
      </p:sp>
      <p:sp>
        <p:nvSpPr>
          <p:cNvPr id="5" name="Text 3"/>
          <p:cNvSpPr/>
          <p:nvPr/>
        </p:nvSpPr>
        <p:spPr>
          <a:xfrm>
            <a:off x="822960" y="4617720"/>
            <a:ext cx="5486400" cy="274320"/>
          </a:xfrm>
          <a:prstGeom prst="rect">
            <a:avLst/>
          </a:prstGeom>
          <a:noFill/>
          <a:ln/>
        </p:spPr>
        <p:txBody>
          <a:bodyPr wrap="square" lIns="0" tIns="0" rIns="0" bIns="0" rtlCol="0" anchor="ctr"/>
          <a:lstStyle/>
          <a:p>
            <a:pPr marL="0" indent="0">
              <a:buNone/>
            </a:pPr>
            <a:r>
              <a:rPr lang="en-US" sz="1600" b="1" dirty="0">
                <a:solidFill>
                  <a:srgbClr val="000000"/>
                </a:solidFill>
                <a:latin typeface="Arial" pitchFamily="34" charset="0"/>
                <a:ea typeface="Arial" pitchFamily="34" charset="-122"/>
                <a:cs typeface="Arial" pitchFamily="34" charset="-120"/>
              </a:rPr>
              <a:t>Interpretation for the pilot</a:t>
            </a:r>
            <a:endParaRPr lang="en-US" sz="1600" dirty="0"/>
          </a:p>
        </p:txBody>
      </p:sp>
      <p:sp>
        <p:nvSpPr>
          <p:cNvPr id="6" name="Text 4"/>
          <p:cNvSpPr/>
          <p:nvPr/>
        </p:nvSpPr>
        <p:spPr>
          <a:xfrm>
            <a:off x="822960" y="4983480"/>
            <a:ext cx="10698480" cy="868680"/>
          </a:xfrm>
          <a:prstGeom prst="rect">
            <a:avLst/>
          </a:prstGeom>
          <a:noFill/>
          <a:ln/>
        </p:spPr>
        <p:txBody>
          <a:bodyPr wrap="square" lIns="254" tIns="254" rIns="254" bIns="254" rtlCol="0" anchor="t">
            <a:normAutofit/>
          </a:bodyPr>
          <a:lstStyle/>
          <a:p>
            <a:pPr marL="0" indent="0">
              <a:buNone/>
            </a:pPr>
            <a:r>
              <a:rPr lang="en-US" sz="1700" dirty="0">
                <a:solidFill>
                  <a:srgbClr val="000000"/>
                </a:solidFill>
                <a:latin typeface="Arial" pitchFamily="34" charset="0"/>
                <a:ea typeface="Arial" pitchFamily="34" charset="-122"/>
                <a:cs typeface="Arial" pitchFamily="34" charset="-120"/>
              </a:rPr>
              <a:t>The research result is already promising. The open work is not whether AL can help, but how to expose the strategy selection, operator review and retraining loop in the actual dashboard/API architecture.</a:t>
            </a:r>
            <a:endParaRPr lang="en-US" sz="1700" dirty="0"/>
          </a:p>
        </p:txBody>
      </p:sp>
      <p:sp>
        <p:nvSpPr>
          <p:cNvPr id="7" name="Text 5"/>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900" dirty="0">
                <a:solidFill>
                  <a:srgbClr val="00000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438912"/>
            <a:ext cx="10972800" cy="50292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5. Next iteration: AL strategy selection</a:t>
            </a:r>
            <a:endParaRPr lang="en-US" sz="2800" dirty="0"/>
          </a:p>
        </p:txBody>
      </p:sp>
      <p:sp>
        <p:nvSpPr>
          <p:cNvPr id="3" name="Shape 1"/>
          <p:cNvSpPr/>
          <p:nvPr/>
        </p:nvSpPr>
        <p:spPr>
          <a:xfrm>
            <a:off x="594360" y="1042416"/>
            <a:ext cx="10972800" cy="0"/>
          </a:xfrm>
          <a:prstGeom prst="line">
            <a:avLst/>
          </a:prstGeom>
          <a:noFill/>
          <a:ln w="12700">
            <a:solidFill>
              <a:srgbClr val="000000"/>
            </a:solidFill>
            <a:prstDash val="solid"/>
          </a:ln>
        </p:spPr>
        <p:txBody>
          <a:bodyPr/>
          <a:lstStyle/>
          <a:p>
            <a:endParaRPr lang="en-GB"/>
          </a:p>
        </p:txBody>
      </p:sp>
      <p:sp>
        <p:nvSpPr>
          <p:cNvPr id="5" name="Text 3"/>
          <p:cNvSpPr/>
          <p:nvPr/>
        </p:nvSpPr>
        <p:spPr>
          <a:xfrm>
            <a:off x="822960" y="1783080"/>
            <a:ext cx="10607040" cy="2331720"/>
          </a:xfrm>
          <a:prstGeom prst="rect">
            <a:avLst/>
          </a:prstGeom>
          <a:noFill/>
          <a:ln/>
        </p:spPr>
        <p:txBody>
          <a:bodyPr wrap="square" lIns="254" tIns="254" rIns="254" bIns="254" rtlCol="0" anchor="ctr">
            <a:normAutofit/>
          </a:bodyPr>
          <a:lstStyle/>
          <a:p>
            <a:r>
              <a:rPr lang="en-US" sz="1700" dirty="0">
                <a:solidFill>
                  <a:srgbClr val="000000"/>
                </a:solidFill>
                <a:latin typeface="Arial" pitchFamily="34" charset="0"/>
                <a:ea typeface="Arial" pitchFamily="34" charset="-122"/>
                <a:cs typeface="Arial" pitchFamily="34" charset="-120"/>
              </a:rPr>
              <a:t>Expose the existing AL strategies in the deployed dashboard/API flow</a:t>
            </a:r>
            <a:endParaRPr lang="en-US" sz="1700" dirty="0"/>
          </a:p>
          <a:p>
            <a:r>
              <a:rPr lang="en-US" sz="1700" dirty="0">
                <a:solidFill>
                  <a:srgbClr val="000000"/>
                </a:solidFill>
                <a:latin typeface="Arial" pitchFamily="34" charset="0"/>
                <a:ea typeface="Arial" pitchFamily="34" charset="-122"/>
                <a:cs typeface="Arial" pitchFamily="34" charset="-120"/>
              </a:rPr>
              <a:t>Frontend/dashboard should allow the operator to select a strategy</a:t>
            </a:r>
            <a:endParaRPr lang="en-US" sz="1700" dirty="0"/>
          </a:p>
          <a:p>
            <a:r>
              <a:rPr lang="en-US" sz="1700" dirty="0">
                <a:solidFill>
                  <a:srgbClr val="000000"/>
                </a:solidFill>
                <a:latin typeface="Arial" pitchFamily="34" charset="0"/>
                <a:ea typeface="Arial" pitchFamily="34" charset="-122"/>
                <a:cs typeface="Arial" pitchFamily="34" charset="-120"/>
              </a:rPr>
              <a:t>Backend should provide a strategy-based sample-selection endpoint</a:t>
            </a:r>
            <a:endParaRPr lang="en-US" sz="1700" dirty="0"/>
          </a:p>
          <a:p>
            <a:r>
              <a:rPr lang="en-US" sz="1700" dirty="0">
                <a:solidFill>
                  <a:srgbClr val="000000"/>
                </a:solidFill>
                <a:latin typeface="Arial" pitchFamily="34" charset="0"/>
                <a:ea typeface="Arial" pitchFamily="34" charset="-122"/>
                <a:cs typeface="Arial" pitchFamily="34" charset="-120"/>
              </a:rPr>
              <a:t>The endpoint would return candidate samples ranked by the chosen strategy</a:t>
            </a:r>
            <a:endParaRPr lang="en-US" sz="1700" dirty="0"/>
          </a:p>
          <a:p>
            <a:r>
              <a:rPr lang="en-US" sz="1700" dirty="0">
                <a:solidFill>
                  <a:srgbClr val="000000"/>
                </a:solidFill>
                <a:latin typeface="Arial" pitchFamily="34" charset="0"/>
                <a:ea typeface="Arial" pitchFamily="34" charset="-122"/>
                <a:cs typeface="Arial" pitchFamily="34" charset="-120"/>
              </a:rPr>
              <a:t>The operator can then choose which samples to include in the next retraining round</a:t>
            </a:r>
            <a:endParaRPr lang="en-US" sz="1700" dirty="0"/>
          </a:p>
        </p:txBody>
      </p:sp>
      <p:sp>
        <p:nvSpPr>
          <p:cNvPr id="6" name="Text 4"/>
          <p:cNvSpPr/>
          <p:nvPr/>
        </p:nvSpPr>
        <p:spPr>
          <a:xfrm>
            <a:off x="822960" y="4572000"/>
            <a:ext cx="4572000" cy="274320"/>
          </a:xfrm>
          <a:prstGeom prst="rect">
            <a:avLst/>
          </a:prstGeom>
          <a:noFill/>
          <a:ln/>
        </p:spPr>
        <p:txBody>
          <a:bodyPr wrap="square" lIns="0" tIns="0" rIns="0" bIns="0" rtlCol="0" anchor="ctr"/>
          <a:lstStyle/>
          <a:p>
            <a:pPr marL="0" indent="0">
              <a:buNone/>
            </a:pPr>
            <a:r>
              <a:rPr lang="en-US" sz="1600" b="1" dirty="0">
                <a:solidFill>
                  <a:srgbClr val="000000"/>
                </a:solidFill>
                <a:latin typeface="Arial" pitchFamily="34" charset="0"/>
                <a:ea typeface="Arial" pitchFamily="34" charset="-122"/>
                <a:cs typeface="Arial" pitchFamily="34" charset="-120"/>
              </a:rPr>
              <a:t>Required alignment</a:t>
            </a:r>
            <a:endParaRPr lang="en-US" sz="1600" dirty="0"/>
          </a:p>
        </p:txBody>
      </p:sp>
      <p:sp>
        <p:nvSpPr>
          <p:cNvPr id="7" name="Text 5"/>
          <p:cNvSpPr/>
          <p:nvPr/>
        </p:nvSpPr>
        <p:spPr>
          <a:xfrm>
            <a:off x="868680" y="4937760"/>
            <a:ext cx="10332720" cy="914400"/>
          </a:xfrm>
          <a:prstGeom prst="rect">
            <a:avLst/>
          </a:prstGeom>
          <a:noFill/>
          <a:ln/>
        </p:spPr>
        <p:txBody>
          <a:bodyPr wrap="square" lIns="254" tIns="254" rIns="254" bIns="254" rtlCol="0" anchor="ctr">
            <a:normAutofit/>
          </a:bodyPr>
          <a:lstStyle/>
          <a:p>
            <a:r>
              <a:rPr lang="en-US" sz="1600" dirty="0">
                <a:solidFill>
                  <a:srgbClr val="000000"/>
                </a:solidFill>
                <a:latin typeface="Arial" pitchFamily="34" charset="0"/>
                <a:ea typeface="Arial" pitchFamily="34" charset="-122"/>
                <a:cs typeface="Arial" pitchFamily="34" charset="-120"/>
              </a:rPr>
              <a:t>Input format from dashboard to backend</a:t>
            </a:r>
            <a:endParaRPr lang="en-US" sz="1600" dirty="0"/>
          </a:p>
          <a:p>
            <a:r>
              <a:rPr lang="en-US" sz="1600" dirty="0">
                <a:solidFill>
                  <a:srgbClr val="000000"/>
                </a:solidFill>
                <a:latin typeface="Arial" pitchFamily="34" charset="0"/>
                <a:ea typeface="Arial" pitchFamily="34" charset="-122"/>
                <a:cs typeface="Arial" pitchFamily="34" charset="-120"/>
              </a:rPr>
              <a:t>Returned sample IDs, scores and explanations</a:t>
            </a:r>
            <a:endParaRPr lang="en-US" sz="1600" dirty="0"/>
          </a:p>
          <a:p>
            <a:r>
              <a:rPr lang="en-US" sz="1600" dirty="0">
                <a:solidFill>
                  <a:srgbClr val="000000"/>
                </a:solidFill>
                <a:latin typeface="Arial" pitchFamily="34" charset="0"/>
                <a:ea typeface="Arial" pitchFamily="34" charset="-122"/>
                <a:cs typeface="Arial" pitchFamily="34" charset="-120"/>
              </a:rPr>
              <a:t>How the operator confirms selected samples before retraining</a:t>
            </a:r>
            <a:endParaRPr lang="en-US" sz="1600" dirty="0"/>
          </a:p>
        </p:txBody>
      </p:sp>
      <p:sp>
        <p:nvSpPr>
          <p:cNvPr id="8" name="Text 6"/>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900" dirty="0">
                <a:solidFill>
                  <a:srgbClr val="000000"/>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438912"/>
            <a:ext cx="10972800" cy="50292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6. XAI, grid-aware AL and evaluation</a:t>
            </a:r>
            <a:endParaRPr lang="en-US" sz="2800" dirty="0"/>
          </a:p>
        </p:txBody>
      </p:sp>
      <p:sp>
        <p:nvSpPr>
          <p:cNvPr id="3" name="Shape 1"/>
          <p:cNvSpPr/>
          <p:nvPr/>
        </p:nvSpPr>
        <p:spPr>
          <a:xfrm>
            <a:off x="594360" y="1042416"/>
            <a:ext cx="10972800" cy="0"/>
          </a:xfrm>
          <a:prstGeom prst="line">
            <a:avLst/>
          </a:prstGeom>
          <a:noFill/>
          <a:ln w="12700">
            <a:solidFill>
              <a:srgbClr val="000000"/>
            </a:solidFill>
            <a:prstDash val="solid"/>
          </a:ln>
        </p:spPr>
        <p:txBody>
          <a:bodyPr/>
          <a:lstStyle/>
          <a:p>
            <a:endParaRPr lang="en-GB"/>
          </a:p>
        </p:txBody>
      </p:sp>
      <p:sp>
        <p:nvSpPr>
          <p:cNvPr id="4" name="Text 2"/>
          <p:cNvSpPr/>
          <p:nvPr/>
        </p:nvSpPr>
        <p:spPr>
          <a:xfrm>
            <a:off x="777240" y="1325880"/>
            <a:ext cx="5212080" cy="274320"/>
          </a:xfrm>
          <a:prstGeom prst="rect">
            <a:avLst/>
          </a:prstGeom>
          <a:noFill/>
          <a:ln/>
        </p:spPr>
        <p:txBody>
          <a:bodyPr wrap="square" lIns="0" tIns="0" rIns="0" bIns="0" rtlCol="0" anchor="ctr"/>
          <a:lstStyle/>
          <a:p>
            <a:pPr marL="0" indent="0">
              <a:buNone/>
            </a:pPr>
            <a:r>
              <a:rPr lang="en-US" sz="1600" b="1" dirty="0">
                <a:solidFill>
                  <a:srgbClr val="000000"/>
                </a:solidFill>
                <a:latin typeface="Arial" pitchFamily="34" charset="0"/>
                <a:ea typeface="Arial" pitchFamily="34" charset="-122"/>
                <a:cs typeface="Arial" pitchFamily="34" charset="-120"/>
              </a:rPr>
              <a:t>XAI / confidence support</a:t>
            </a:r>
            <a:endParaRPr lang="en-US" sz="1600" dirty="0"/>
          </a:p>
        </p:txBody>
      </p:sp>
      <p:sp>
        <p:nvSpPr>
          <p:cNvPr id="5" name="Text 3"/>
          <p:cNvSpPr/>
          <p:nvPr/>
        </p:nvSpPr>
        <p:spPr>
          <a:xfrm>
            <a:off x="822960" y="1691640"/>
            <a:ext cx="5212080" cy="1417320"/>
          </a:xfrm>
          <a:prstGeom prst="rect">
            <a:avLst/>
          </a:prstGeom>
          <a:noFill/>
          <a:ln/>
        </p:spPr>
        <p:txBody>
          <a:bodyPr wrap="square" lIns="254" tIns="254" rIns="254" bIns="254" rtlCol="0" anchor="ctr">
            <a:normAutofit/>
          </a:bodyPr>
          <a:lstStyle/>
          <a:p>
            <a:r>
              <a:rPr lang="en-US" sz="1600" dirty="0">
                <a:solidFill>
                  <a:srgbClr val="000000"/>
                </a:solidFill>
                <a:latin typeface="Arial" pitchFamily="34" charset="0"/>
                <a:ea typeface="Arial" pitchFamily="34" charset="-122"/>
                <a:cs typeface="Arial" pitchFamily="34" charset="-120"/>
              </a:rPr>
              <a:t>Backend can compute confidence and AL-related scores</a:t>
            </a:r>
            <a:endParaRPr lang="en-US" sz="1600" dirty="0"/>
          </a:p>
          <a:p>
            <a:r>
              <a:rPr lang="en-US" sz="1600" dirty="0">
                <a:solidFill>
                  <a:srgbClr val="000000"/>
                </a:solidFill>
                <a:latin typeface="Arial" pitchFamily="34" charset="0"/>
                <a:ea typeface="Arial" pitchFamily="34" charset="-122"/>
                <a:cs typeface="Arial" pitchFamily="34" charset="-120"/>
              </a:rPr>
              <a:t>Potentially add feature importance or SHAP-like explanations</a:t>
            </a:r>
            <a:endParaRPr lang="en-US" sz="1600" dirty="0"/>
          </a:p>
          <a:p>
            <a:r>
              <a:rPr lang="en-US" sz="1600" dirty="0">
                <a:solidFill>
                  <a:srgbClr val="000000"/>
                </a:solidFill>
                <a:latin typeface="Arial" pitchFamily="34" charset="0"/>
                <a:ea typeface="Arial" pitchFamily="34" charset="-122"/>
                <a:cs typeface="Arial" pitchFamily="34" charset="-120"/>
              </a:rPr>
              <a:t>Useful when multiple records have similar uncertainty but different reasons</a:t>
            </a:r>
            <a:endParaRPr lang="en-US" sz="1600" dirty="0"/>
          </a:p>
        </p:txBody>
      </p:sp>
      <p:sp>
        <p:nvSpPr>
          <p:cNvPr id="6" name="Text 4"/>
          <p:cNvSpPr/>
          <p:nvPr/>
        </p:nvSpPr>
        <p:spPr>
          <a:xfrm>
            <a:off x="777240" y="3520440"/>
            <a:ext cx="5486400" cy="274320"/>
          </a:xfrm>
          <a:prstGeom prst="rect">
            <a:avLst/>
          </a:prstGeom>
          <a:noFill/>
          <a:ln/>
        </p:spPr>
        <p:txBody>
          <a:bodyPr wrap="square" lIns="0" tIns="0" rIns="0" bIns="0" rtlCol="0" anchor="ctr"/>
          <a:lstStyle/>
          <a:p>
            <a:pPr marL="0" indent="0">
              <a:buNone/>
            </a:pPr>
            <a:r>
              <a:rPr lang="en-US" sz="1600" b="1" dirty="0">
                <a:solidFill>
                  <a:srgbClr val="000000"/>
                </a:solidFill>
                <a:latin typeface="Arial" pitchFamily="34" charset="0"/>
                <a:ea typeface="Arial" pitchFamily="34" charset="-122"/>
                <a:cs typeface="Arial" pitchFamily="34" charset="-120"/>
              </a:rPr>
              <a:t>Domain-aware / grid-aware selection</a:t>
            </a:r>
            <a:endParaRPr lang="en-US" sz="1600" dirty="0"/>
          </a:p>
        </p:txBody>
      </p:sp>
      <p:sp>
        <p:nvSpPr>
          <p:cNvPr id="7" name="Text 5"/>
          <p:cNvSpPr/>
          <p:nvPr/>
        </p:nvSpPr>
        <p:spPr>
          <a:xfrm>
            <a:off x="822960" y="3886200"/>
            <a:ext cx="5212080" cy="1508760"/>
          </a:xfrm>
          <a:prstGeom prst="rect">
            <a:avLst/>
          </a:prstGeom>
          <a:noFill/>
          <a:ln/>
        </p:spPr>
        <p:txBody>
          <a:bodyPr wrap="square" lIns="254" tIns="254" rIns="254" bIns="254" rtlCol="0" anchor="ctr">
            <a:normAutofit/>
          </a:bodyPr>
          <a:lstStyle/>
          <a:p>
            <a:r>
              <a:rPr lang="en-US" sz="1600" dirty="0">
                <a:solidFill>
                  <a:srgbClr val="000000"/>
                </a:solidFill>
                <a:latin typeface="Arial" pitchFamily="34" charset="0"/>
                <a:ea typeface="Arial" pitchFamily="34" charset="-122"/>
                <a:cs typeface="Arial" pitchFamily="34" charset="-120"/>
              </a:rPr>
              <a:t>We have the static pandapower grid model</a:t>
            </a:r>
            <a:endParaRPr lang="en-US" sz="1600" dirty="0"/>
          </a:p>
          <a:p>
            <a:r>
              <a:rPr lang="en-US" sz="1600" dirty="0">
                <a:solidFill>
                  <a:srgbClr val="000000"/>
                </a:solidFill>
                <a:latin typeface="Arial" pitchFamily="34" charset="0"/>
                <a:ea typeface="Arial" pitchFamily="34" charset="-122"/>
                <a:cs typeface="Arial" pitchFamily="34" charset="-120"/>
              </a:rPr>
              <a:t>Dataset contains aggregated indicators: line loading and min/max voltage</a:t>
            </a:r>
            <a:endParaRPr lang="en-US" sz="1600" dirty="0"/>
          </a:p>
          <a:p>
            <a:r>
              <a:rPr lang="en-US" sz="1600" dirty="0">
                <a:solidFill>
                  <a:srgbClr val="000000"/>
                </a:solidFill>
                <a:latin typeface="Arial" pitchFamily="34" charset="0"/>
                <a:ea typeface="Arial" pitchFamily="34" charset="-122"/>
                <a:cs typeface="Arial" pitchFamily="34" charset="-120"/>
              </a:rPr>
              <a:t>Need to clarify per-sample details: outage, overloaded line, voltage-violating bus, affected elements or segments</a:t>
            </a:r>
            <a:endParaRPr lang="en-US" sz="1600" dirty="0"/>
          </a:p>
        </p:txBody>
      </p:sp>
      <p:sp>
        <p:nvSpPr>
          <p:cNvPr id="8" name="Shape 6"/>
          <p:cNvSpPr/>
          <p:nvPr/>
        </p:nvSpPr>
        <p:spPr>
          <a:xfrm>
            <a:off x="6263640" y="1261872"/>
            <a:ext cx="0" cy="4526280"/>
          </a:xfrm>
          <a:prstGeom prst="line">
            <a:avLst/>
          </a:prstGeom>
          <a:noFill/>
          <a:ln w="12700">
            <a:solidFill>
              <a:srgbClr val="000000"/>
            </a:solidFill>
            <a:prstDash val="solid"/>
          </a:ln>
        </p:spPr>
        <p:txBody>
          <a:bodyPr/>
          <a:lstStyle/>
          <a:p>
            <a:endParaRPr lang="en-GB"/>
          </a:p>
        </p:txBody>
      </p:sp>
      <p:sp>
        <p:nvSpPr>
          <p:cNvPr id="9" name="Text 7"/>
          <p:cNvSpPr/>
          <p:nvPr/>
        </p:nvSpPr>
        <p:spPr>
          <a:xfrm>
            <a:off x="6629400" y="1325880"/>
            <a:ext cx="4846320" cy="274320"/>
          </a:xfrm>
          <a:prstGeom prst="rect">
            <a:avLst/>
          </a:prstGeom>
          <a:noFill/>
          <a:ln/>
        </p:spPr>
        <p:txBody>
          <a:bodyPr wrap="square" lIns="0" tIns="0" rIns="0" bIns="0" rtlCol="0" anchor="ctr"/>
          <a:lstStyle/>
          <a:p>
            <a:pPr marL="0" indent="0">
              <a:buNone/>
            </a:pPr>
            <a:r>
              <a:rPr lang="en-US" sz="1600" b="1" dirty="0">
                <a:solidFill>
                  <a:srgbClr val="000000"/>
                </a:solidFill>
                <a:latin typeface="Arial" pitchFamily="34" charset="0"/>
                <a:ea typeface="Arial" pitchFamily="34" charset="-122"/>
                <a:cs typeface="Arial" pitchFamily="34" charset="-120"/>
              </a:rPr>
              <a:t>HCI / XAI evaluation</a:t>
            </a:r>
            <a:endParaRPr lang="en-US" sz="1600" dirty="0"/>
          </a:p>
        </p:txBody>
      </p:sp>
      <p:sp>
        <p:nvSpPr>
          <p:cNvPr id="10" name="Text 8"/>
          <p:cNvSpPr/>
          <p:nvPr/>
        </p:nvSpPr>
        <p:spPr>
          <a:xfrm>
            <a:off x="6675120" y="1691640"/>
            <a:ext cx="4892040" cy="3383280"/>
          </a:xfrm>
          <a:prstGeom prst="rect">
            <a:avLst/>
          </a:prstGeom>
          <a:noFill/>
          <a:ln/>
        </p:spPr>
        <p:txBody>
          <a:bodyPr wrap="square" lIns="254" tIns="254" rIns="254" bIns="254" rtlCol="0" anchor="ctr">
            <a:normAutofit/>
          </a:bodyPr>
          <a:lstStyle/>
          <a:p>
            <a:r>
              <a:rPr lang="en-US" sz="1600" dirty="0">
                <a:solidFill>
                  <a:srgbClr val="000000"/>
                </a:solidFill>
                <a:latin typeface="Arial" pitchFamily="34" charset="0"/>
                <a:ea typeface="Arial" pitchFamily="34" charset="-122"/>
                <a:cs typeface="Arial" pitchFamily="34" charset="-120"/>
              </a:rPr>
              <a:t>Jože will propose how to measure HCI effectiveness and satisfaction</a:t>
            </a:r>
            <a:endParaRPr lang="en-US" sz="1600" dirty="0"/>
          </a:p>
          <a:p>
            <a:r>
              <a:rPr lang="en-US" sz="1600" dirty="0">
                <a:solidFill>
                  <a:srgbClr val="000000"/>
                </a:solidFill>
                <a:latin typeface="Arial" pitchFamily="34" charset="0"/>
                <a:ea typeface="Arial" pitchFamily="34" charset="-122"/>
                <a:cs typeface="Arial" pitchFamily="34" charset="-120"/>
              </a:rPr>
              <a:t>Evaluation can use the WP5 Benchmark Suite where applicable</a:t>
            </a:r>
            <a:endParaRPr lang="en-US" sz="1600" dirty="0"/>
          </a:p>
          <a:p>
            <a:r>
              <a:rPr lang="en-US" sz="1600" dirty="0">
                <a:solidFill>
                  <a:srgbClr val="000000"/>
                </a:solidFill>
                <a:latin typeface="Arial" pitchFamily="34" charset="0"/>
                <a:ea typeface="Arial" pitchFamily="34" charset="-122"/>
                <a:cs typeface="Arial" pitchFamily="34" charset="-120"/>
              </a:rPr>
              <a:t>Operator questionnaires may be used if already covered by the Benchmark Suite</a:t>
            </a:r>
            <a:endParaRPr lang="en-US" sz="1600" dirty="0"/>
          </a:p>
          <a:p>
            <a:r>
              <a:rPr lang="en-US" sz="1600" dirty="0">
                <a:solidFill>
                  <a:srgbClr val="000000"/>
                </a:solidFill>
                <a:latin typeface="Arial" pitchFamily="34" charset="0"/>
                <a:ea typeface="Arial" pitchFamily="34" charset="-122"/>
                <a:cs typeface="Arial" pitchFamily="34" charset="-120"/>
              </a:rPr>
              <a:t>Goal: understand whether AL/XAI/grid-aware insights improve operator experience and model quality</a:t>
            </a:r>
            <a:endParaRPr lang="en-US" sz="1600" dirty="0"/>
          </a:p>
        </p:txBody>
      </p:sp>
      <p:sp>
        <p:nvSpPr>
          <p:cNvPr id="11" name="Text 9"/>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900" dirty="0">
                <a:solidFill>
                  <a:srgbClr val="000000"/>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438912"/>
            <a:ext cx="10972800" cy="502920"/>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7. Planned work for the next weeks</a:t>
            </a:r>
            <a:endParaRPr lang="en-US" sz="2800" dirty="0"/>
          </a:p>
        </p:txBody>
      </p:sp>
      <p:sp>
        <p:nvSpPr>
          <p:cNvPr id="3" name="Shape 1"/>
          <p:cNvSpPr/>
          <p:nvPr/>
        </p:nvSpPr>
        <p:spPr>
          <a:xfrm>
            <a:off x="594360" y="1042416"/>
            <a:ext cx="10972800" cy="0"/>
          </a:xfrm>
          <a:prstGeom prst="line">
            <a:avLst/>
          </a:prstGeom>
          <a:noFill/>
          <a:ln w="12700">
            <a:solidFill>
              <a:srgbClr val="000000"/>
            </a:solidFill>
            <a:prstDash val="solid"/>
          </a:ln>
        </p:spPr>
        <p:txBody>
          <a:bodyPr/>
          <a:lstStyle/>
          <a:p>
            <a:endParaRPr lang="en-GB"/>
          </a:p>
        </p:txBody>
      </p:sp>
      <p:sp>
        <p:nvSpPr>
          <p:cNvPr id="4" name="Text 2"/>
          <p:cNvSpPr/>
          <p:nvPr/>
        </p:nvSpPr>
        <p:spPr>
          <a:xfrm>
            <a:off x="777240" y="1325880"/>
            <a:ext cx="3383280" cy="274320"/>
          </a:xfrm>
          <a:prstGeom prst="rect">
            <a:avLst/>
          </a:prstGeom>
          <a:noFill/>
          <a:ln/>
        </p:spPr>
        <p:txBody>
          <a:bodyPr wrap="square" lIns="0" tIns="0" rIns="0" bIns="0" rtlCol="0" anchor="ctr"/>
          <a:lstStyle/>
          <a:p>
            <a:pPr marL="0" indent="0">
              <a:buNone/>
            </a:pPr>
            <a:r>
              <a:rPr lang="en-US" sz="1600" b="1" dirty="0">
                <a:solidFill>
                  <a:srgbClr val="000000"/>
                </a:solidFill>
                <a:latin typeface="Arial" pitchFamily="34" charset="0"/>
                <a:ea typeface="Arial" pitchFamily="34" charset="-122"/>
                <a:cs typeface="Arial" pitchFamily="34" charset="-120"/>
              </a:rPr>
              <a:t>Backend / JSI</a:t>
            </a:r>
            <a:r>
              <a:rPr lang="sl-SI" sz="1600" b="1" dirty="0">
                <a:solidFill>
                  <a:srgbClr val="000000"/>
                </a:solidFill>
                <a:latin typeface="Arial" pitchFamily="34" charset="0"/>
                <a:ea typeface="Arial" pitchFamily="34" charset="-122"/>
                <a:cs typeface="Arial" pitchFamily="34" charset="-120"/>
              </a:rPr>
              <a:t> – Gašper </a:t>
            </a:r>
            <a:endParaRPr lang="en-US" sz="1600" dirty="0"/>
          </a:p>
        </p:txBody>
      </p:sp>
      <p:sp>
        <p:nvSpPr>
          <p:cNvPr id="5" name="Text 3"/>
          <p:cNvSpPr/>
          <p:nvPr/>
        </p:nvSpPr>
        <p:spPr>
          <a:xfrm>
            <a:off x="822960" y="1691640"/>
            <a:ext cx="3474720" cy="2743200"/>
          </a:xfrm>
          <a:prstGeom prst="rect">
            <a:avLst/>
          </a:prstGeom>
          <a:noFill/>
          <a:ln/>
        </p:spPr>
        <p:txBody>
          <a:bodyPr wrap="square" lIns="254" tIns="254" rIns="254" bIns="254" rtlCol="0" anchor="ctr">
            <a:normAutofit/>
          </a:bodyPr>
          <a:lstStyle/>
          <a:p>
            <a:r>
              <a:rPr lang="en-US" sz="1500" dirty="0">
                <a:solidFill>
                  <a:srgbClr val="000000"/>
                </a:solidFill>
                <a:latin typeface="Arial" pitchFamily="34" charset="0"/>
                <a:ea typeface="Arial" pitchFamily="34" charset="-122"/>
                <a:cs typeface="Arial" pitchFamily="34" charset="-120"/>
              </a:rPr>
              <a:t>Keep retraining API stable on Atena</a:t>
            </a:r>
            <a:endParaRPr lang="en-US" sz="1500" dirty="0"/>
          </a:p>
          <a:p>
            <a:r>
              <a:rPr lang="en-US" sz="1500" dirty="0">
                <a:solidFill>
                  <a:srgbClr val="000000"/>
                </a:solidFill>
                <a:latin typeface="Arial" pitchFamily="34" charset="0"/>
                <a:ea typeface="Arial" pitchFamily="34" charset="-122"/>
                <a:cs typeface="Arial" pitchFamily="34" charset="-120"/>
              </a:rPr>
              <a:t>Define sample-selection endpoint contract</a:t>
            </a:r>
            <a:endParaRPr lang="en-US" sz="1500" dirty="0"/>
          </a:p>
          <a:p>
            <a:r>
              <a:rPr lang="en-US" sz="1500" dirty="0">
                <a:solidFill>
                  <a:srgbClr val="000000"/>
                </a:solidFill>
                <a:latin typeface="Arial" pitchFamily="34" charset="0"/>
                <a:ea typeface="Arial" pitchFamily="34" charset="-122"/>
                <a:cs typeface="Arial" pitchFamily="34" charset="-120"/>
              </a:rPr>
              <a:t>Implement ranking for entropy, uncertainty, margin and random</a:t>
            </a:r>
            <a:endParaRPr lang="en-US" sz="1500" dirty="0"/>
          </a:p>
          <a:p>
            <a:r>
              <a:rPr lang="en-US" sz="1500" dirty="0">
                <a:solidFill>
                  <a:srgbClr val="000000"/>
                </a:solidFill>
                <a:latin typeface="Arial" pitchFamily="34" charset="0"/>
                <a:ea typeface="Arial" pitchFamily="34" charset="-122"/>
                <a:cs typeface="Arial" pitchFamily="34" charset="-120"/>
              </a:rPr>
              <a:t>Add confidence and optional XAI summaries to returned candidates</a:t>
            </a:r>
            <a:endParaRPr lang="en-US" sz="1500" dirty="0"/>
          </a:p>
        </p:txBody>
      </p:sp>
      <p:sp>
        <p:nvSpPr>
          <p:cNvPr id="6" name="Shape 4"/>
          <p:cNvSpPr/>
          <p:nvPr/>
        </p:nvSpPr>
        <p:spPr>
          <a:xfrm>
            <a:off x="4434840" y="1261872"/>
            <a:ext cx="0" cy="4480560"/>
          </a:xfrm>
          <a:prstGeom prst="line">
            <a:avLst/>
          </a:prstGeom>
          <a:noFill/>
          <a:ln w="12700">
            <a:solidFill>
              <a:srgbClr val="000000"/>
            </a:solidFill>
            <a:prstDash val="solid"/>
          </a:ln>
        </p:spPr>
        <p:txBody>
          <a:bodyPr/>
          <a:lstStyle/>
          <a:p>
            <a:endParaRPr lang="en-GB"/>
          </a:p>
        </p:txBody>
      </p:sp>
      <p:sp>
        <p:nvSpPr>
          <p:cNvPr id="7" name="Text 5"/>
          <p:cNvSpPr/>
          <p:nvPr/>
        </p:nvSpPr>
        <p:spPr>
          <a:xfrm>
            <a:off x="4709160" y="1325880"/>
            <a:ext cx="3383280" cy="274320"/>
          </a:xfrm>
          <a:prstGeom prst="rect">
            <a:avLst/>
          </a:prstGeom>
          <a:noFill/>
          <a:ln/>
        </p:spPr>
        <p:txBody>
          <a:bodyPr wrap="square" lIns="0" tIns="0" rIns="0" bIns="0" rtlCol="0" anchor="ctr"/>
          <a:lstStyle/>
          <a:p>
            <a:pPr marL="0" indent="0">
              <a:buNone/>
            </a:pPr>
            <a:r>
              <a:rPr lang="en-US" sz="1600" b="1" dirty="0">
                <a:solidFill>
                  <a:srgbClr val="000000"/>
                </a:solidFill>
                <a:latin typeface="Arial" pitchFamily="34" charset="0"/>
                <a:ea typeface="Arial" pitchFamily="34" charset="-122"/>
                <a:cs typeface="Arial" pitchFamily="34" charset="-120"/>
              </a:rPr>
              <a:t>Dashboard / UBITECH</a:t>
            </a:r>
            <a:r>
              <a:rPr lang="sl-SI" sz="1600" b="1" dirty="0">
                <a:solidFill>
                  <a:srgbClr val="000000"/>
                </a:solidFill>
                <a:latin typeface="Arial" pitchFamily="34" charset="0"/>
                <a:ea typeface="Arial" pitchFamily="34" charset="-122"/>
                <a:cs typeface="Arial" pitchFamily="34" charset="-120"/>
              </a:rPr>
              <a:t> – </a:t>
            </a:r>
            <a:r>
              <a:rPr lang="sl-SI" sz="1600" b="1" dirty="0" err="1">
                <a:solidFill>
                  <a:srgbClr val="000000"/>
                </a:solidFill>
                <a:latin typeface="Arial" pitchFamily="34" charset="0"/>
                <a:ea typeface="Arial" pitchFamily="34" charset="-122"/>
                <a:cs typeface="Arial" pitchFamily="34" charset="-120"/>
              </a:rPr>
              <a:t>Kostas</a:t>
            </a:r>
            <a:r>
              <a:rPr lang="sl-SI" sz="1600" b="1" dirty="0">
                <a:solidFill>
                  <a:srgbClr val="000000"/>
                </a:solidFill>
                <a:latin typeface="Arial" pitchFamily="34" charset="0"/>
                <a:ea typeface="Arial" pitchFamily="34" charset="-122"/>
                <a:cs typeface="Arial" pitchFamily="34" charset="-120"/>
              </a:rPr>
              <a:t>, Magda</a:t>
            </a:r>
            <a:endParaRPr lang="en-US" sz="1600" dirty="0"/>
          </a:p>
        </p:txBody>
      </p:sp>
      <p:sp>
        <p:nvSpPr>
          <p:cNvPr id="8" name="Text 6"/>
          <p:cNvSpPr/>
          <p:nvPr/>
        </p:nvSpPr>
        <p:spPr>
          <a:xfrm>
            <a:off x="4754880" y="1691640"/>
            <a:ext cx="3474720" cy="2743200"/>
          </a:xfrm>
          <a:prstGeom prst="rect">
            <a:avLst/>
          </a:prstGeom>
          <a:noFill/>
          <a:ln/>
        </p:spPr>
        <p:txBody>
          <a:bodyPr wrap="square" lIns="254" tIns="254" rIns="254" bIns="254" rtlCol="0" anchor="ctr">
            <a:normAutofit/>
          </a:bodyPr>
          <a:lstStyle/>
          <a:p>
            <a:r>
              <a:rPr lang="en-US" sz="1500" dirty="0">
                <a:solidFill>
                  <a:srgbClr val="000000"/>
                </a:solidFill>
                <a:latin typeface="Arial" pitchFamily="34" charset="0"/>
                <a:ea typeface="Arial" pitchFamily="34" charset="-122"/>
                <a:cs typeface="Arial" pitchFamily="34" charset="-120"/>
              </a:rPr>
              <a:t>Expose strategy selector in the frontend</a:t>
            </a:r>
            <a:endParaRPr lang="en-US" sz="1500" dirty="0"/>
          </a:p>
          <a:p>
            <a:r>
              <a:rPr lang="en-US" sz="1500" dirty="0">
                <a:solidFill>
                  <a:srgbClr val="000000"/>
                </a:solidFill>
                <a:latin typeface="Arial" pitchFamily="34" charset="0"/>
                <a:ea typeface="Arial" pitchFamily="34" charset="-122"/>
                <a:cs typeface="Arial" pitchFamily="34" charset="-120"/>
              </a:rPr>
              <a:t>Send candidate samples / features to backend</a:t>
            </a:r>
            <a:endParaRPr lang="en-US" sz="1500" dirty="0"/>
          </a:p>
          <a:p>
            <a:r>
              <a:rPr lang="en-US" sz="1500" dirty="0">
                <a:solidFill>
                  <a:srgbClr val="000000"/>
                </a:solidFill>
                <a:latin typeface="Arial" pitchFamily="34" charset="0"/>
                <a:ea typeface="Arial" pitchFamily="34" charset="-122"/>
                <a:cs typeface="Arial" pitchFamily="34" charset="-120"/>
              </a:rPr>
              <a:t>Display ranked samples, scores and explanations</a:t>
            </a:r>
            <a:endParaRPr lang="en-US" sz="1500" dirty="0"/>
          </a:p>
          <a:p>
            <a:r>
              <a:rPr lang="en-US" sz="1500" dirty="0">
                <a:solidFill>
                  <a:srgbClr val="000000"/>
                </a:solidFill>
                <a:latin typeface="Arial" pitchFamily="34" charset="0"/>
                <a:ea typeface="Arial" pitchFamily="34" charset="-122"/>
                <a:cs typeface="Arial" pitchFamily="34" charset="-120"/>
              </a:rPr>
              <a:t>Let the operator confirm samples for the new retraining round</a:t>
            </a:r>
            <a:endParaRPr lang="en-US" sz="1500" dirty="0"/>
          </a:p>
        </p:txBody>
      </p:sp>
      <p:sp>
        <p:nvSpPr>
          <p:cNvPr id="9" name="Shape 7"/>
          <p:cNvSpPr/>
          <p:nvPr/>
        </p:nvSpPr>
        <p:spPr>
          <a:xfrm>
            <a:off x="8366760" y="1261872"/>
            <a:ext cx="0" cy="4480560"/>
          </a:xfrm>
          <a:prstGeom prst="line">
            <a:avLst/>
          </a:prstGeom>
          <a:noFill/>
          <a:ln w="12700">
            <a:solidFill>
              <a:srgbClr val="000000"/>
            </a:solidFill>
            <a:prstDash val="solid"/>
          </a:ln>
        </p:spPr>
        <p:txBody>
          <a:bodyPr/>
          <a:lstStyle/>
          <a:p>
            <a:endParaRPr lang="en-GB"/>
          </a:p>
        </p:txBody>
      </p:sp>
      <p:sp>
        <p:nvSpPr>
          <p:cNvPr id="10" name="Text 8"/>
          <p:cNvSpPr/>
          <p:nvPr/>
        </p:nvSpPr>
        <p:spPr>
          <a:xfrm>
            <a:off x="8641080" y="1325880"/>
            <a:ext cx="3017520" cy="274320"/>
          </a:xfrm>
          <a:prstGeom prst="rect">
            <a:avLst/>
          </a:prstGeom>
          <a:noFill/>
          <a:ln/>
        </p:spPr>
        <p:txBody>
          <a:bodyPr wrap="square" lIns="0" tIns="0" rIns="0" bIns="0" rtlCol="0" anchor="ctr"/>
          <a:lstStyle/>
          <a:p>
            <a:pPr marL="0" indent="0">
              <a:buNone/>
            </a:pPr>
            <a:r>
              <a:rPr lang="en-US" sz="1600" b="1" dirty="0">
                <a:solidFill>
                  <a:srgbClr val="000000"/>
                </a:solidFill>
                <a:latin typeface="Arial" pitchFamily="34" charset="0"/>
                <a:ea typeface="Arial" pitchFamily="34" charset="-122"/>
                <a:cs typeface="Arial" pitchFamily="34" charset="-120"/>
              </a:rPr>
              <a:t>Evaluation / Jože + Ivana</a:t>
            </a:r>
            <a:endParaRPr lang="en-US" sz="1600" dirty="0"/>
          </a:p>
        </p:txBody>
      </p:sp>
      <p:sp>
        <p:nvSpPr>
          <p:cNvPr id="11" name="Text 9"/>
          <p:cNvSpPr/>
          <p:nvPr/>
        </p:nvSpPr>
        <p:spPr>
          <a:xfrm>
            <a:off x="8686800" y="1691640"/>
            <a:ext cx="2926080" cy="2743200"/>
          </a:xfrm>
          <a:prstGeom prst="rect">
            <a:avLst/>
          </a:prstGeom>
          <a:noFill/>
          <a:ln/>
        </p:spPr>
        <p:txBody>
          <a:bodyPr wrap="square" lIns="254" tIns="254" rIns="254" bIns="254" rtlCol="0" anchor="ctr">
            <a:normAutofit/>
          </a:bodyPr>
          <a:lstStyle/>
          <a:p>
            <a:r>
              <a:rPr lang="en-US" sz="1500" dirty="0">
                <a:solidFill>
                  <a:srgbClr val="000000"/>
                </a:solidFill>
                <a:latin typeface="Arial" pitchFamily="34" charset="0"/>
                <a:ea typeface="Arial" pitchFamily="34" charset="-122"/>
                <a:cs typeface="Arial" pitchFamily="34" charset="-120"/>
              </a:rPr>
              <a:t>Define HCI/XAI evaluation protocol</a:t>
            </a:r>
            <a:endParaRPr lang="en-US" sz="1500" dirty="0"/>
          </a:p>
          <a:p>
            <a:r>
              <a:rPr lang="en-US" sz="1500" dirty="0">
                <a:solidFill>
                  <a:srgbClr val="000000"/>
                </a:solidFill>
                <a:latin typeface="Arial" pitchFamily="34" charset="0"/>
                <a:ea typeface="Arial" pitchFamily="34" charset="-122"/>
                <a:cs typeface="Arial" pitchFamily="34" charset="-120"/>
              </a:rPr>
              <a:t>Map evaluation to WP5 Benchmark Suite</a:t>
            </a:r>
            <a:endParaRPr lang="en-US" sz="1500" dirty="0"/>
          </a:p>
          <a:p>
            <a:r>
              <a:rPr lang="en-US" sz="1500" dirty="0">
                <a:solidFill>
                  <a:srgbClr val="000000"/>
                </a:solidFill>
                <a:latin typeface="Arial" pitchFamily="34" charset="0"/>
                <a:ea typeface="Arial" pitchFamily="34" charset="-122"/>
                <a:cs typeface="Arial" pitchFamily="34" charset="-120"/>
              </a:rPr>
              <a:t>Prepare operator-oriented questionnaires if needed</a:t>
            </a:r>
            <a:endParaRPr lang="en-US" sz="1500" dirty="0"/>
          </a:p>
          <a:p>
            <a:r>
              <a:rPr lang="en-US" sz="1500" dirty="0">
                <a:solidFill>
                  <a:srgbClr val="000000"/>
                </a:solidFill>
                <a:latin typeface="Arial" pitchFamily="34" charset="0"/>
                <a:ea typeface="Arial" pitchFamily="34" charset="-122"/>
                <a:cs typeface="Arial" pitchFamily="34" charset="-120"/>
              </a:rPr>
              <a:t>Assess operator experience and model quality impact</a:t>
            </a:r>
            <a:endParaRPr lang="en-US" sz="1500" dirty="0"/>
          </a:p>
        </p:txBody>
      </p:sp>
      <p:sp>
        <p:nvSpPr>
          <p:cNvPr id="13" name="Text 11"/>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900" dirty="0">
                <a:solidFill>
                  <a:srgbClr val="000000"/>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ova tema">
  <a:themeElements>
    <a:clrScheme name="Pisarna">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isarna">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isarn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793</Words>
  <Application>Microsoft Office PowerPoint</Application>
  <PresentationFormat>Širokozaslonsko</PresentationFormat>
  <Paragraphs>104</Paragraphs>
  <Slides>8</Slides>
  <Notes>8</Notes>
  <HiddenSlides>0</HiddenSlides>
  <MMClips>0</MMClips>
  <ScaleCrop>false</ScaleCrop>
  <HeadingPairs>
    <vt:vector size="6" baseType="variant">
      <vt:variant>
        <vt:lpstr>Uporabljene pisave</vt:lpstr>
      </vt:variant>
      <vt:variant>
        <vt:i4>1</vt:i4>
      </vt:variant>
      <vt:variant>
        <vt:lpstr>Tema</vt:lpstr>
      </vt:variant>
      <vt:variant>
        <vt:i4>1</vt:i4>
      </vt:variant>
      <vt:variant>
        <vt:lpstr>Naslovi diapozitivov</vt:lpstr>
      </vt:variant>
      <vt:variant>
        <vt:i4>8</vt:i4>
      </vt:variant>
    </vt:vector>
  </HeadingPairs>
  <TitlesOfParts>
    <vt:vector size="10" baseType="lpstr">
      <vt:lpstr>Arial</vt:lpstr>
      <vt:lpstr>Office Theme</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lpstr>PowerPointova predstavitev</vt:lpstr>
    </vt:vector>
  </TitlesOfParts>
  <Company>Jožef Stefan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Energy Active Learning + HITL</dc:title>
  <dc:subject>Smart Energy Active Learning + HITL</dc:subject>
  <dc:creator>Gašper Leskovec</dc:creator>
  <cp:lastModifiedBy>Gasper Leskovec</cp:lastModifiedBy>
  <cp:revision>6</cp:revision>
  <dcterms:created xsi:type="dcterms:W3CDTF">2026-05-20T15:39:18Z</dcterms:created>
  <dcterms:modified xsi:type="dcterms:W3CDTF">2026-05-20T15:50:10Z</dcterms:modified>
</cp:coreProperties>
</file>